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3" r:id="rId3"/>
  </p:sldMasterIdLst>
  <p:notesMasterIdLst>
    <p:notesMasterId r:id="rId20"/>
  </p:notesMasterIdLst>
  <p:sldIdLst>
    <p:sldId id="274" r:id="rId4"/>
    <p:sldId id="333" r:id="rId5"/>
    <p:sldId id="319" r:id="rId6"/>
    <p:sldId id="335" r:id="rId7"/>
    <p:sldId id="258" r:id="rId8"/>
    <p:sldId id="259" r:id="rId9"/>
    <p:sldId id="26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4ED6"/>
    <a:srgbClr val="C137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C68909-49F3-ED0D-BD2B-159F3CC9A4F3}" v="26" dt="2026-05-13T20:29:48.319"/>
    <p1510:client id="{6F708E24-3524-32D6-02EE-92C274C8A15D}" v="87" dt="2026-05-13T23:03:18.124"/>
    <p1510:client id="{792BB9DF-7792-1C76-0F71-18C7F7E1E1FA}" v="10" dt="2026-05-13T02:06:07.994"/>
    <p1510:client id="{C7933404-F4F7-65B7-0753-BFA65FC5E961}" v="313" dt="2026-05-13T20:35:03.080"/>
    <p1510:client id="{CEA145CD-7C51-FF0F-5E3A-CC405A4E7B7A}" v="1130" dt="2026-05-13T20:00:04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A066F-3B29-4708-82E4-4D9676200DC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5722F-2A4D-494B-9F43-5AA6879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7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D96A870-B653-1E7C-0080-77DC4B90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fc32aaae8_0_165:notes">
            <a:extLst>
              <a:ext uri="{FF2B5EF4-FFF2-40B4-BE49-F238E27FC236}">
                <a16:creationId xmlns:a16="http://schemas.microsoft.com/office/drawing/2014/main" id="{E5CB91EA-2AE7-D6EA-2FF4-BFF179F5C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g36fc32aaae8_0_165:notes">
            <a:extLst>
              <a:ext uri="{FF2B5EF4-FFF2-40B4-BE49-F238E27FC236}">
                <a16:creationId xmlns:a16="http://schemas.microsoft.com/office/drawing/2014/main" id="{20CED203-3A15-762A-2CBC-814EF51E8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61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073f9f73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5" name="Google Shape;435;g3b073f9f736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g3b073f9f736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5014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112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2736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264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1260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4738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2582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798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2773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9416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Violet_footer">
  <p:cSld name="Title and Content - Violet_foot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3888" y="175847"/>
            <a:ext cx="9692400" cy="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3887" y="1820265"/>
            <a:ext cx="9692400" cy="4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marL="1219170" lvl="1" indent="-40639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2pPr>
            <a:lvl3pPr marL="1828754" lvl="2" indent="-3979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100"/>
              <a:buChar char="–"/>
              <a:defRPr/>
            </a:lvl3pPr>
            <a:lvl4pPr marL="2438339" lvl="3" indent="-380990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900"/>
              <a:buChar char="•"/>
              <a:defRPr/>
            </a:lvl4pPr>
            <a:lvl5pPr marL="3047924" lvl="4" indent="-380990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9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623888" y="928319"/>
            <a:ext cx="96924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2000" b="1">
                <a:solidFill>
                  <a:schemeClr val="accent1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  <a:defRPr/>
            </a:lvl3pPr>
            <a:lvl4pPr marL="2438339" lvl="3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11995151" y="0"/>
            <a:ext cx="1968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1234912" y="6400192"/>
            <a:ext cx="9081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7386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_ribbon">
  <p:cSld name="Title page_ribbon">
    <p:bg>
      <p:bgPr>
        <a:gradFill>
          <a:gsLst>
            <a:gs pos="0">
              <a:schemeClr val="lt2"/>
            </a:gs>
            <a:gs pos="100000">
              <a:srgbClr val="FAFAFA"/>
            </a:gs>
          </a:gsLst>
          <a:lin ang="5400012" scaled="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 rot="10800000" flipH="1">
            <a:off x="2239783" y="1262709"/>
            <a:ext cx="9947192" cy="5595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421" y="755219"/>
            <a:ext cx="1418400" cy="20172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00699" y="1808163"/>
            <a:ext cx="10967600" cy="1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5067" b="1"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  <a:defRPr/>
            </a:lvl3pPr>
            <a:lvl4pPr marL="2438339" lvl="3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2"/>
          </p:nvPr>
        </p:nvSpPr>
        <p:spPr>
          <a:xfrm>
            <a:off x="611332" y="3940392"/>
            <a:ext cx="90432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1"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  <a:defRPr/>
            </a:lvl3pPr>
            <a:lvl4pPr marL="2438339" lvl="3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3"/>
          </p:nvPr>
        </p:nvSpPr>
        <p:spPr>
          <a:xfrm>
            <a:off x="618860" y="4348817"/>
            <a:ext cx="90432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0"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  <a:defRPr/>
            </a:lvl3pPr>
            <a:lvl4pPr marL="2438339" lvl="3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116" y="6254477"/>
            <a:ext cx="1418400" cy="127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51302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_ribbon">
  <p:cSld name="Title page_ribbon">
    <p:bg>
      <p:bgPr>
        <a:gradFill>
          <a:gsLst>
            <a:gs pos="0">
              <a:schemeClr val="lt2"/>
            </a:gs>
            <a:gs pos="100000">
              <a:srgbClr val="FAFAFA"/>
            </a:gs>
          </a:gsLst>
          <a:lin ang="54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1" y="756992"/>
            <a:ext cx="1418400" cy="20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A black and white sign with white text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9715" y="5874300"/>
            <a:ext cx="1174656" cy="5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600700" y="1808163"/>
            <a:ext cx="10967413" cy="155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611332" y="3940392"/>
            <a:ext cx="9043213" cy="27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3"/>
          </p:nvPr>
        </p:nvSpPr>
        <p:spPr>
          <a:xfrm>
            <a:off x="618860" y="4348818"/>
            <a:ext cx="9043213" cy="27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532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_ribbon">
  <p:cSld name="1_Title page_ribbon">
    <p:bg>
      <p:bgPr>
        <a:gradFill>
          <a:gsLst>
            <a:gs pos="0">
              <a:schemeClr val="lt2"/>
            </a:gs>
            <a:gs pos="100000">
              <a:srgbClr val="FAFAFA"/>
            </a:gs>
          </a:gsLst>
          <a:lin ang="54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1" y="756992"/>
            <a:ext cx="1418400" cy="20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A black and white sign with white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9715" y="5874300"/>
            <a:ext cx="1174656" cy="5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600700" y="1808163"/>
            <a:ext cx="10967413" cy="155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611332" y="3940392"/>
            <a:ext cx="9043213" cy="27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3"/>
          </p:nvPr>
        </p:nvSpPr>
        <p:spPr>
          <a:xfrm>
            <a:off x="618860" y="4348818"/>
            <a:ext cx="9043213" cy="27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107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623888" y="1820265"/>
            <a:ext cx="9692421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301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–"/>
              <a:defRPr/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2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400"/>
              <a:buFont typeface="Arial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860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241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1">
  <p:cSld name="Divider Slide #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A purple and black background  AI-generated content may be incorrect.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9250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1">
  <p:cSld name="1_Divider Slide #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A purple and black background&#10;&#10;AI-generated content may be incorrect.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43872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623888" y="1820265"/>
            <a:ext cx="9692421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301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–"/>
              <a:defRPr/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76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">
  <p:cSld name="1_Titl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623888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4359160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4"/>
          </p:nvPr>
        </p:nvSpPr>
        <p:spPr>
          <a:xfrm>
            <a:off x="8094432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08232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2">
  <p:cSld name="Divider Slide #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 descr="A purple and black background  AI-generated content may be incorrect.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22500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9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1" y="755219"/>
            <a:ext cx="1418400" cy="20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 descr="A black and white sign with white text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9836" y="5874300"/>
            <a:ext cx="1174656" cy="5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623888" y="3885757"/>
            <a:ext cx="4252912" cy="35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8" name="Google Shape;68;p9"/>
          <p:cNvGrpSpPr/>
          <p:nvPr/>
        </p:nvGrpSpPr>
        <p:grpSpPr>
          <a:xfrm>
            <a:off x="623889" y="4500107"/>
            <a:ext cx="2781391" cy="1426245"/>
            <a:chOff x="623888" y="4955505"/>
            <a:chExt cx="2781390" cy="1426245"/>
          </a:xfrm>
        </p:grpSpPr>
        <p:sp>
          <p:nvSpPr>
            <p:cNvPr id="69" name="Google Shape;69;p9"/>
            <p:cNvSpPr txBox="1"/>
            <p:nvPr/>
          </p:nvSpPr>
          <p:spPr>
            <a:xfrm>
              <a:off x="978056" y="4973216"/>
              <a:ext cx="2427222" cy="1408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@FinastraFS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Finastra LinkedIn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Finastra YouTube</a:t>
              </a:r>
              <a:endPara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9"/>
            <p:cNvGrpSpPr/>
            <p:nvPr/>
          </p:nvGrpSpPr>
          <p:grpSpPr>
            <a:xfrm>
              <a:off x="623888" y="4955505"/>
              <a:ext cx="289249" cy="289249"/>
              <a:chOff x="623888" y="4955505"/>
              <a:chExt cx="289249" cy="289249"/>
            </a:xfrm>
          </p:grpSpPr>
          <p:sp>
            <p:nvSpPr>
              <p:cNvPr id="71" name="Google Shape;71;p9"/>
              <p:cNvSpPr/>
              <p:nvPr/>
            </p:nvSpPr>
            <p:spPr>
              <a:xfrm>
                <a:off x="623888" y="4955505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92361" y="5021597"/>
                <a:ext cx="157063" cy="1570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" name="Google Shape;73;p9"/>
            <p:cNvGrpSpPr/>
            <p:nvPr/>
          </p:nvGrpSpPr>
          <p:grpSpPr>
            <a:xfrm>
              <a:off x="623888" y="5352082"/>
              <a:ext cx="289249" cy="289249"/>
              <a:chOff x="623888" y="5352082"/>
              <a:chExt cx="289249" cy="289249"/>
            </a:xfrm>
          </p:grpSpPr>
          <p:sp>
            <p:nvSpPr>
              <p:cNvPr id="74" name="Google Shape;74;p9"/>
              <p:cNvSpPr/>
              <p:nvPr/>
            </p:nvSpPr>
            <p:spPr>
              <a:xfrm>
                <a:off x="623888" y="5352082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94964" y="5405276"/>
                <a:ext cx="155034" cy="1550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6" name="Google Shape;76;p9"/>
            <p:cNvGrpSpPr/>
            <p:nvPr/>
          </p:nvGrpSpPr>
          <p:grpSpPr>
            <a:xfrm>
              <a:off x="623888" y="5752692"/>
              <a:ext cx="289249" cy="289249"/>
              <a:chOff x="623888" y="5752692"/>
              <a:chExt cx="289249" cy="289249"/>
            </a:xfrm>
          </p:grpSpPr>
          <p:sp>
            <p:nvSpPr>
              <p:cNvPr id="77" name="Google Shape;77;p9"/>
              <p:cNvSpPr/>
              <p:nvPr/>
            </p:nvSpPr>
            <p:spPr>
              <a:xfrm>
                <a:off x="623888" y="5752692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8" name="Google Shape;78;p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85500" y="5793581"/>
                <a:ext cx="167706" cy="194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9" name="Google Shape;79;p9"/>
          <p:cNvGrpSpPr/>
          <p:nvPr/>
        </p:nvGrpSpPr>
        <p:grpSpPr>
          <a:xfrm>
            <a:off x="636830" y="5953390"/>
            <a:ext cx="434807" cy="432599"/>
            <a:chOff x="478" y="3030"/>
            <a:chExt cx="788" cy="784"/>
          </a:xfrm>
        </p:grpSpPr>
        <p:sp>
          <p:nvSpPr>
            <p:cNvPr id="80" name="Google Shape;80;p9"/>
            <p:cNvSpPr/>
            <p:nvPr/>
          </p:nvSpPr>
          <p:spPr>
            <a:xfrm>
              <a:off x="478" y="3030"/>
              <a:ext cx="788" cy="784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87"/>
                    <a:pt x="25" y="112"/>
                    <a:pt x="56" y="112"/>
                  </a:cubicBezTo>
                  <a:cubicBezTo>
                    <a:pt x="69" y="112"/>
                    <a:pt x="81" y="108"/>
                    <a:pt x="91" y="99"/>
                  </a:cubicBezTo>
                  <a:cubicBezTo>
                    <a:pt x="92" y="99"/>
                    <a:pt x="92" y="97"/>
                    <a:pt x="92" y="97"/>
                  </a:cubicBezTo>
                  <a:cubicBezTo>
                    <a:pt x="91" y="96"/>
                    <a:pt x="90" y="96"/>
                    <a:pt x="89" y="96"/>
                  </a:cubicBezTo>
                  <a:cubicBezTo>
                    <a:pt x="80" y="104"/>
                    <a:pt x="68" y="108"/>
                    <a:pt x="56" y="108"/>
                  </a:cubicBezTo>
                  <a:cubicBezTo>
                    <a:pt x="56" y="108"/>
                    <a:pt x="56" y="108"/>
                    <a:pt x="55" y="108"/>
                  </a:cubicBezTo>
                  <a:cubicBezTo>
                    <a:pt x="41" y="97"/>
                    <a:pt x="43" y="94"/>
                    <a:pt x="44" y="92"/>
                  </a:cubicBezTo>
                  <a:cubicBezTo>
                    <a:pt x="52" y="77"/>
                    <a:pt x="48" y="73"/>
                    <a:pt x="42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38" y="66"/>
                    <a:pt x="39" y="64"/>
                    <a:pt x="39" y="64"/>
                  </a:cubicBezTo>
                  <a:cubicBezTo>
                    <a:pt x="48" y="53"/>
                    <a:pt x="49" y="48"/>
                    <a:pt x="44" y="44"/>
                  </a:cubicBezTo>
                  <a:cubicBezTo>
                    <a:pt x="42" y="43"/>
                    <a:pt x="36" y="38"/>
                    <a:pt x="32" y="41"/>
                  </a:cubicBezTo>
                  <a:cubicBezTo>
                    <a:pt x="30" y="41"/>
                    <a:pt x="28" y="43"/>
                    <a:pt x="28" y="48"/>
                  </a:cubicBezTo>
                  <a:cubicBezTo>
                    <a:pt x="29" y="57"/>
                    <a:pt x="22" y="65"/>
                    <a:pt x="16" y="6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5" y="65"/>
                    <a:pt x="16" y="59"/>
                    <a:pt x="16" y="57"/>
                  </a:cubicBezTo>
                  <a:cubicBezTo>
                    <a:pt x="17" y="53"/>
                    <a:pt x="17" y="51"/>
                    <a:pt x="16" y="50"/>
                  </a:cubicBezTo>
                  <a:cubicBezTo>
                    <a:pt x="15" y="48"/>
                    <a:pt x="11" y="48"/>
                    <a:pt x="5" y="48"/>
                  </a:cubicBezTo>
                  <a:cubicBezTo>
                    <a:pt x="9" y="23"/>
                    <a:pt x="30" y="4"/>
                    <a:pt x="56" y="4"/>
                  </a:cubicBezTo>
                  <a:cubicBezTo>
                    <a:pt x="60" y="4"/>
                    <a:pt x="63" y="4"/>
                    <a:pt x="67" y="5"/>
                  </a:cubicBezTo>
                  <a:cubicBezTo>
                    <a:pt x="67" y="6"/>
                    <a:pt x="68" y="9"/>
                    <a:pt x="69" y="11"/>
                  </a:cubicBezTo>
                  <a:cubicBezTo>
                    <a:pt x="70" y="13"/>
                    <a:pt x="71" y="20"/>
                    <a:pt x="68" y="22"/>
                  </a:cubicBezTo>
                  <a:cubicBezTo>
                    <a:pt x="67" y="23"/>
                    <a:pt x="65" y="23"/>
                    <a:pt x="64" y="23"/>
                  </a:cubicBezTo>
                  <a:cubicBezTo>
                    <a:pt x="61" y="24"/>
                    <a:pt x="56" y="25"/>
                    <a:pt x="55" y="31"/>
                  </a:cubicBezTo>
                  <a:cubicBezTo>
                    <a:pt x="55" y="36"/>
                    <a:pt x="56" y="42"/>
                    <a:pt x="59" y="45"/>
                  </a:cubicBezTo>
                  <a:cubicBezTo>
                    <a:pt x="62" y="48"/>
                    <a:pt x="64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71" y="49"/>
                    <a:pt x="76" y="42"/>
                    <a:pt x="77" y="38"/>
                  </a:cubicBezTo>
                  <a:cubicBezTo>
                    <a:pt x="77" y="37"/>
                    <a:pt x="78" y="36"/>
                    <a:pt x="78" y="35"/>
                  </a:cubicBezTo>
                  <a:cubicBezTo>
                    <a:pt x="78" y="36"/>
                    <a:pt x="79" y="36"/>
                    <a:pt x="79" y="37"/>
                  </a:cubicBezTo>
                  <a:cubicBezTo>
                    <a:pt x="80" y="38"/>
                    <a:pt x="81" y="39"/>
                    <a:pt x="82" y="41"/>
                  </a:cubicBezTo>
                  <a:cubicBezTo>
                    <a:pt x="83" y="43"/>
                    <a:pt x="84" y="46"/>
                    <a:pt x="87" y="47"/>
                  </a:cubicBezTo>
                  <a:cubicBezTo>
                    <a:pt x="93" y="49"/>
                    <a:pt x="99" y="48"/>
                    <a:pt x="107" y="44"/>
                  </a:cubicBezTo>
                  <a:cubicBezTo>
                    <a:pt x="108" y="48"/>
                    <a:pt x="108" y="52"/>
                    <a:pt x="108" y="56"/>
                  </a:cubicBezTo>
                  <a:cubicBezTo>
                    <a:pt x="108" y="64"/>
                    <a:pt x="106" y="71"/>
                    <a:pt x="103" y="78"/>
                  </a:cubicBezTo>
                  <a:cubicBezTo>
                    <a:pt x="102" y="80"/>
                    <a:pt x="101" y="82"/>
                    <a:pt x="100" y="84"/>
                  </a:cubicBezTo>
                  <a:cubicBezTo>
                    <a:pt x="99" y="85"/>
                    <a:pt x="100" y="86"/>
                    <a:pt x="100" y="87"/>
                  </a:cubicBezTo>
                  <a:cubicBezTo>
                    <a:pt x="101" y="87"/>
                    <a:pt x="103" y="87"/>
                    <a:pt x="103" y="86"/>
                  </a:cubicBezTo>
                  <a:cubicBezTo>
                    <a:pt x="105" y="84"/>
                    <a:pt x="106" y="82"/>
                    <a:pt x="107" y="80"/>
                  </a:cubicBezTo>
                  <a:cubicBezTo>
                    <a:pt x="110" y="72"/>
                    <a:pt x="112" y="64"/>
                    <a:pt x="112" y="56"/>
                  </a:cubicBezTo>
                  <a:cubicBezTo>
                    <a:pt x="112" y="25"/>
                    <a:pt x="87" y="0"/>
                    <a:pt x="56" y="0"/>
                  </a:cubicBezTo>
                  <a:close/>
                  <a:moveTo>
                    <a:pt x="12" y="52"/>
                  </a:moveTo>
                  <a:cubicBezTo>
                    <a:pt x="13" y="53"/>
                    <a:pt x="12" y="55"/>
                    <a:pt x="12" y="56"/>
                  </a:cubicBezTo>
                  <a:cubicBezTo>
                    <a:pt x="11" y="63"/>
                    <a:pt x="11" y="67"/>
                    <a:pt x="13" y="69"/>
                  </a:cubicBezTo>
                  <a:cubicBezTo>
                    <a:pt x="14" y="70"/>
                    <a:pt x="15" y="71"/>
                    <a:pt x="17" y="70"/>
                  </a:cubicBezTo>
                  <a:cubicBezTo>
                    <a:pt x="25" y="68"/>
                    <a:pt x="33" y="59"/>
                    <a:pt x="32" y="48"/>
                  </a:cubicBezTo>
                  <a:cubicBezTo>
                    <a:pt x="32" y="47"/>
                    <a:pt x="32" y="45"/>
                    <a:pt x="33" y="44"/>
                  </a:cubicBezTo>
                  <a:cubicBezTo>
                    <a:pt x="35" y="43"/>
                    <a:pt x="39" y="45"/>
                    <a:pt x="41" y="47"/>
                  </a:cubicBezTo>
                  <a:cubicBezTo>
                    <a:pt x="43" y="49"/>
                    <a:pt x="45" y="50"/>
                    <a:pt x="36" y="61"/>
                  </a:cubicBezTo>
                  <a:cubicBezTo>
                    <a:pt x="35" y="63"/>
                    <a:pt x="34" y="68"/>
                    <a:pt x="39" y="72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44" y="75"/>
                    <a:pt x="47" y="77"/>
                    <a:pt x="41" y="90"/>
                  </a:cubicBezTo>
                  <a:cubicBezTo>
                    <a:pt x="37" y="95"/>
                    <a:pt x="39" y="100"/>
                    <a:pt x="48" y="107"/>
                  </a:cubicBezTo>
                  <a:cubicBezTo>
                    <a:pt x="23" y="104"/>
                    <a:pt x="4" y="82"/>
                    <a:pt x="4" y="56"/>
                  </a:cubicBezTo>
                  <a:cubicBezTo>
                    <a:pt x="4" y="55"/>
                    <a:pt x="4" y="53"/>
                    <a:pt x="4" y="52"/>
                  </a:cubicBezTo>
                  <a:cubicBezTo>
                    <a:pt x="8" y="52"/>
                    <a:pt x="11" y="52"/>
                    <a:pt x="12" y="52"/>
                  </a:cubicBezTo>
                  <a:close/>
                  <a:moveTo>
                    <a:pt x="89" y="44"/>
                  </a:moveTo>
                  <a:cubicBezTo>
                    <a:pt x="87" y="43"/>
                    <a:pt x="87" y="42"/>
                    <a:pt x="85" y="39"/>
                  </a:cubicBezTo>
                  <a:cubicBezTo>
                    <a:pt x="85" y="37"/>
                    <a:pt x="84" y="35"/>
                    <a:pt x="82" y="34"/>
                  </a:cubicBezTo>
                  <a:cubicBezTo>
                    <a:pt x="80" y="32"/>
                    <a:pt x="79" y="31"/>
                    <a:pt x="77" y="31"/>
                  </a:cubicBezTo>
                  <a:cubicBezTo>
                    <a:pt x="75" y="31"/>
                    <a:pt x="74" y="33"/>
                    <a:pt x="73" y="36"/>
                  </a:cubicBezTo>
                  <a:cubicBezTo>
                    <a:pt x="72" y="41"/>
                    <a:pt x="68" y="45"/>
                    <a:pt x="66" y="45"/>
                  </a:cubicBezTo>
                  <a:cubicBezTo>
                    <a:pt x="66" y="45"/>
                    <a:pt x="66" y="45"/>
                    <a:pt x="66" y="45"/>
                  </a:cubicBezTo>
                  <a:cubicBezTo>
                    <a:pt x="65" y="45"/>
                    <a:pt x="64" y="44"/>
                    <a:pt x="63" y="43"/>
                  </a:cubicBezTo>
                  <a:cubicBezTo>
                    <a:pt x="60" y="40"/>
                    <a:pt x="59" y="36"/>
                    <a:pt x="59" y="32"/>
                  </a:cubicBezTo>
                  <a:cubicBezTo>
                    <a:pt x="60" y="29"/>
                    <a:pt x="62" y="28"/>
                    <a:pt x="65" y="27"/>
                  </a:cubicBezTo>
                  <a:cubicBezTo>
                    <a:pt x="67" y="27"/>
                    <a:pt x="69" y="26"/>
                    <a:pt x="70" y="25"/>
                  </a:cubicBezTo>
                  <a:cubicBezTo>
                    <a:pt x="75" y="21"/>
                    <a:pt x="75" y="12"/>
                    <a:pt x="73" y="9"/>
                  </a:cubicBezTo>
                  <a:cubicBezTo>
                    <a:pt x="72" y="8"/>
                    <a:pt x="72" y="7"/>
                    <a:pt x="71" y="6"/>
                  </a:cubicBezTo>
                  <a:cubicBezTo>
                    <a:pt x="88" y="11"/>
                    <a:pt x="101" y="24"/>
                    <a:pt x="106" y="40"/>
                  </a:cubicBezTo>
                  <a:cubicBezTo>
                    <a:pt x="96" y="45"/>
                    <a:pt x="92" y="45"/>
                    <a:pt x="89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823" y="3625"/>
              <a:ext cx="112" cy="119"/>
            </a:xfrm>
            <a:custGeom>
              <a:avLst/>
              <a:gdLst/>
              <a:ahLst/>
              <a:cxnLst/>
              <a:rect l="l" t="t" r="r" b="b"/>
              <a:pathLst>
                <a:path w="16" h="17" extrusionOk="0">
                  <a:moveTo>
                    <a:pt x="11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2"/>
                    <a:pt x="1" y="6"/>
                    <a:pt x="0" y="10"/>
                  </a:cubicBezTo>
                  <a:cubicBezTo>
                    <a:pt x="0" y="13"/>
                    <a:pt x="3" y="16"/>
                    <a:pt x="6" y="16"/>
                  </a:cubicBezTo>
                  <a:cubicBezTo>
                    <a:pt x="7" y="17"/>
                    <a:pt x="7" y="17"/>
                    <a:pt x="8" y="17"/>
                  </a:cubicBezTo>
                  <a:cubicBezTo>
                    <a:pt x="10" y="17"/>
                    <a:pt x="11" y="16"/>
                    <a:pt x="12" y="14"/>
                  </a:cubicBezTo>
                  <a:cubicBezTo>
                    <a:pt x="13" y="14"/>
                    <a:pt x="13" y="14"/>
                    <a:pt x="13" y="13"/>
                  </a:cubicBezTo>
                  <a:cubicBezTo>
                    <a:pt x="16" y="10"/>
                    <a:pt x="16" y="8"/>
                    <a:pt x="13" y="1"/>
                  </a:cubicBezTo>
                  <a:cubicBezTo>
                    <a:pt x="12" y="0"/>
                    <a:pt x="12" y="0"/>
                    <a:pt x="11" y="0"/>
                  </a:cubicBezTo>
                  <a:close/>
                  <a:moveTo>
                    <a:pt x="10" y="11"/>
                  </a:moveTo>
                  <a:cubicBezTo>
                    <a:pt x="10" y="11"/>
                    <a:pt x="9" y="12"/>
                    <a:pt x="9" y="12"/>
                  </a:cubicBezTo>
                  <a:cubicBezTo>
                    <a:pt x="9" y="12"/>
                    <a:pt x="8" y="13"/>
                    <a:pt x="7" y="13"/>
                  </a:cubicBezTo>
                  <a:cubicBezTo>
                    <a:pt x="6" y="12"/>
                    <a:pt x="4" y="11"/>
                    <a:pt x="4" y="10"/>
                  </a:cubicBezTo>
                  <a:cubicBezTo>
                    <a:pt x="4" y="9"/>
                    <a:pt x="7" y="7"/>
                    <a:pt x="10" y="5"/>
                  </a:cubicBezTo>
                  <a:cubicBezTo>
                    <a:pt x="12" y="9"/>
                    <a:pt x="11" y="9"/>
                    <a:pt x="10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914" y="3394"/>
              <a:ext cx="246" cy="182"/>
            </a:xfrm>
            <a:custGeom>
              <a:avLst/>
              <a:gdLst/>
              <a:ahLst/>
              <a:cxnLst/>
              <a:rect l="l" t="t" r="r" b="b"/>
              <a:pathLst>
                <a:path w="35" h="26" extrusionOk="0">
                  <a:moveTo>
                    <a:pt x="30" y="4"/>
                  </a:moveTo>
                  <a:cubicBezTo>
                    <a:pt x="30" y="4"/>
                    <a:pt x="25" y="0"/>
                    <a:pt x="19" y="1"/>
                  </a:cubicBezTo>
                  <a:cubicBezTo>
                    <a:pt x="15" y="2"/>
                    <a:pt x="12" y="4"/>
                    <a:pt x="10" y="9"/>
                  </a:cubicBezTo>
                  <a:cubicBezTo>
                    <a:pt x="10" y="10"/>
                    <a:pt x="8" y="10"/>
                    <a:pt x="6" y="11"/>
                  </a:cubicBezTo>
                  <a:cubicBezTo>
                    <a:pt x="4" y="11"/>
                    <a:pt x="0" y="12"/>
                    <a:pt x="1" y="15"/>
                  </a:cubicBezTo>
                  <a:cubicBezTo>
                    <a:pt x="2" y="20"/>
                    <a:pt x="14" y="25"/>
                    <a:pt x="14" y="25"/>
                  </a:cubicBezTo>
                  <a:cubicBezTo>
                    <a:pt x="15" y="26"/>
                    <a:pt x="16" y="26"/>
                    <a:pt x="17" y="26"/>
                  </a:cubicBezTo>
                  <a:cubicBezTo>
                    <a:pt x="21" y="26"/>
                    <a:pt x="26" y="24"/>
                    <a:pt x="29" y="18"/>
                  </a:cubicBezTo>
                  <a:cubicBezTo>
                    <a:pt x="30" y="16"/>
                    <a:pt x="32" y="15"/>
                    <a:pt x="32" y="14"/>
                  </a:cubicBezTo>
                  <a:cubicBezTo>
                    <a:pt x="34" y="13"/>
                    <a:pt x="35" y="11"/>
                    <a:pt x="34" y="10"/>
                  </a:cubicBezTo>
                  <a:cubicBezTo>
                    <a:pt x="34" y="8"/>
                    <a:pt x="33" y="7"/>
                    <a:pt x="30" y="4"/>
                  </a:cubicBezTo>
                  <a:close/>
                  <a:moveTo>
                    <a:pt x="29" y="11"/>
                  </a:moveTo>
                  <a:cubicBezTo>
                    <a:pt x="28" y="12"/>
                    <a:pt x="27" y="14"/>
                    <a:pt x="26" y="16"/>
                  </a:cubicBezTo>
                  <a:cubicBezTo>
                    <a:pt x="22" y="23"/>
                    <a:pt x="17" y="22"/>
                    <a:pt x="16" y="22"/>
                  </a:cubicBezTo>
                  <a:cubicBezTo>
                    <a:pt x="12" y="20"/>
                    <a:pt x="7" y="17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9" y="14"/>
                    <a:pt x="13" y="13"/>
                    <a:pt x="14" y="10"/>
                  </a:cubicBezTo>
                  <a:cubicBezTo>
                    <a:pt x="15" y="7"/>
                    <a:pt x="17" y="5"/>
                    <a:pt x="20" y="5"/>
                  </a:cubicBezTo>
                  <a:cubicBezTo>
                    <a:pt x="23" y="4"/>
                    <a:pt x="28" y="7"/>
                    <a:pt x="28" y="7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1"/>
                    <a:pt x="29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9"/>
          <p:cNvSpPr txBox="1"/>
          <p:nvPr/>
        </p:nvSpPr>
        <p:spPr>
          <a:xfrm>
            <a:off x="1246113" y="6044545"/>
            <a:ext cx="3977089" cy="27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Please consider our planet before printing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2"/>
          </p:nvPr>
        </p:nvSpPr>
        <p:spPr>
          <a:xfrm>
            <a:off x="623887" y="1323793"/>
            <a:ext cx="6891339" cy="219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2363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2">
  <p:cSld name="1_Divider Slide #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 descr="A purple and black background&#10;&#10;AI-generated content may be incorrect.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2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5567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1_Thank you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9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421" y="755219"/>
            <a:ext cx="1418400" cy="20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 descr="A black and white sign with white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49836" y="5874300"/>
            <a:ext cx="1174656" cy="5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623888" y="3885757"/>
            <a:ext cx="4252912" cy="35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8" name="Google Shape;68;p9"/>
          <p:cNvGrpSpPr/>
          <p:nvPr/>
        </p:nvGrpSpPr>
        <p:grpSpPr>
          <a:xfrm>
            <a:off x="623889" y="4500107"/>
            <a:ext cx="2781391" cy="1426245"/>
            <a:chOff x="623888" y="4955505"/>
            <a:chExt cx="2781390" cy="1426245"/>
          </a:xfrm>
        </p:grpSpPr>
        <p:sp>
          <p:nvSpPr>
            <p:cNvPr id="69" name="Google Shape;69;p9"/>
            <p:cNvSpPr txBox="1"/>
            <p:nvPr/>
          </p:nvSpPr>
          <p:spPr>
            <a:xfrm>
              <a:off x="978056" y="4973216"/>
              <a:ext cx="2427222" cy="1408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@FinastraFS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Finastra LinkedIn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Finastra YouTube</a:t>
              </a:r>
              <a:endPara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9"/>
            <p:cNvGrpSpPr/>
            <p:nvPr/>
          </p:nvGrpSpPr>
          <p:grpSpPr>
            <a:xfrm>
              <a:off x="623888" y="4955505"/>
              <a:ext cx="289249" cy="289249"/>
              <a:chOff x="623888" y="4955505"/>
              <a:chExt cx="289249" cy="289249"/>
            </a:xfrm>
          </p:grpSpPr>
          <p:sp>
            <p:nvSpPr>
              <p:cNvPr id="71" name="Google Shape;71;p9"/>
              <p:cNvSpPr/>
              <p:nvPr/>
            </p:nvSpPr>
            <p:spPr>
              <a:xfrm>
                <a:off x="623888" y="4955505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92361" y="5021597"/>
                <a:ext cx="157063" cy="1570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" name="Google Shape;73;p9"/>
            <p:cNvGrpSpPr/>
            <p:nvPr/>
          </p:nvGrpSpPr>
          <p:grpSpPr>
            <a:xfrm>
              <a:off x="623888" y="5352082"/>
              <a:ext cx="289249" cy="289249"/>
              <a:chOff x="623888" y="5352082"/>
              <a:chExt cx="289249" cy="289249"/>
            </a:xfrm>
          </p:grpSpPr>
          <p:sp>
            <p:nvSpPr>
              <p:cNvPr id="74" name="Google Shape;74;p9"/>
              <p:cNvSpPr/>
              <p:nvPr/>
            </p:nvSpPr>
            <p:spPr>
              <a:xfrm>
                <a:off x="623888" y="5352082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94964" y="5405276"/>
                <a:ext cx="155034" cy="1550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6" name="Google Shape;76;p9"/>
            <p:cNvGrpSpPr/>
            <p:nvPr/>
          </p:nvGrpSpPr>
          <p:grpSpPr>
            <a:xfrm>
              <a:off x="623888" y="5752692"/>
              <a:ext cx="289249" cy="289249"/>
              <a:chOff x="623888" y="5752692"/>
              <a:chExt cx="289249" cy="289249"/>
            </a:xfrm>
          </p:grpSpPr>
          <p:sp>
            <p:nvSpPr>
              <p:cNvPr id="77" name="Google Shape;77;p9"/>
              <p:cNvSpPr/>
              <p:nvPr/>
            </p:nvSpPr>
            <p:spPr>
              <a:xfrm>
                <a:off x="623888" y="5752692"/>
                <a:ext cx="289249" cy="28924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8" name="Google Shape;78;p9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85500" y="5793581"/>
                <a:ext cx="167706" cy="194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9" name="Google Shape;79;p9"/>
          <p:cNvGrpSpPr/>
          <p:nvPr/>
        </p:nvGrpSpPr>
        <p:grpSpPr>
          <a:xfrm>
            <a:off x="636830" y="5953390"/>
            <a:ext cx="434807" cy="432599"/>
            <a:chOff x="478" y="3030"/>
            <a:chExt cx="788" cy="784"/>
          </a:xfrm>
        </p:grpSpPr>
        <p:sp>
          <p:nvSpPr>
            <p:cNvPr id="80" name="Google Shape;80;p9"/>
            <p:cNvSpPr/>
            <p:nvPr/>
          </p:nvSpPr>
          <p:spPr>
            <a:xfrm>
              <a:off x="478" y="3030"/>
              <a:ext cx="788" cy="784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87"/>
                    <a:pt x="25" y="112"/>
                    <a:pt x="56" y="112"/>
                  </a:cubicBezTo>
                  <a:cubicBezTo>
                    <a:pt x="69" y="112"/>
                    <a:pt x="81" y="108"/>
                    <a:pt x="91" y="99"/>
                  </a:cubicBezTo>
                  <a:cubicBezTo>
                    <a:pt x="92" y="99"/>
                    <a:pt x="92" y="97"/>
                    <a:pt x="92" y="97"/>
                  </a:cubicBezTo>
                  <a:cubicBezTo>
                    <a:pt x="91" y="96"/>
                    <a:pt x="90" y="96"/>
                    <a:pt x="89" y="96"/>
                  </a:cubicBezTo>
                  <a:cubicBezTo>
                    <a:pt x="80" y="104"/>
                    <a:pt x="68" y="108"/>
                    <a:pt x="56" y="108"/>
                  </a:cubicBezTo>
                  <a:cubicBezTo>
                    <a:pt x="56" y="108"/>
                    <a:pt x="56" y="108"/>
                    <a:pt x="55" y="108"/>
                  </a:cubicBezTo>
                  <a:cubicBezTo>
                    <a:pt x="41" y="97"/>
                    <a:pt x="43" y="94"/>
                    <a:pt x="44" y="92"/>
                  </a:cubicBezTo>
                  <a:cubicBezTo>
                    <a:pt x="52" y="77"/>
                    <a:pt x="48" y="73"/>
                    <a:pt x="42" y="69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38" y="66"/>
                    <a:pt x="39" y="64"/>
                    <a:pt x="39" y="64"/>
                  </a:cubicBezTo>
                  <a:cubicBezTo>
                    <a:pt x="48" y="53"/>
                    <a:pt x="49" y="48"/>
                    <a:pt x="44" y="44"/>
                  </a:cubicBezTo>
                  <a:cubicBezTo>
                    <a:pt x="42" y="43"/>
                    <a:pt x="36" y="38"/>
                    <a:pt x="32" y="41"/>
                  </a:cubicBezTo>
                  <a:cubicBezTo>
                    <a:pt x="30" y="41"/>
                    <a:pt x="28" y="43"/>
                    <a:pt x="28" y="48"/>
                  </a:cubicBezTo>
                  <a:cubicBezTo>
                    <a:pt x="29" y="57"/>
                    <a:pt x="22" y="65"/>
                    <a:pt x="16" y="6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5" y="65"/>
                    <a:pt x="16" y="59"/>
                    <a:pt x="16" y="57"/>
                  </a:cubicBezTo>
                  <a:cubicBezTo>
                    <a:pt x="17" y="53"/>
                    <a:pt x="17" y="51"/>
                    <a:pt x="16" y="50"/>
                  </a:cubicBezTo>
                  <a:cubicBezTo>
                    <a:pt x="15" y="48"/>
                    <a:pt x="11" y="48"/>
                    <a:pt x="5" y="48"/>
                  </a:cubicBezTo>
                  <a:cubicBezTo>
                    <a:pt x="9" y="23"/>
                    <a:pt x="30" y="4"/>
                    <a:pt x="56" y="4"/>
                  </a:cubicBezTo>
                  <a:cubicBezTo>
                    <a:pt x="60" y="4"/>
                    <a:pt x="63" y="4"/>
                    <a:pt x="67" y="5"/>
                  </a:cubicBezTo>
                  <a:cubicBezTo>
                    <a:pt x="67" y="6"/>
                    <a:pt x="68" y="9"/>
                    <a:pt x="69" y="11"/>
                  </a:cubicBezTo>
                  <a:cubicBezTo>
                    <a:pt x="70" y="13"/>
                    <a:pt x="71" y="20"/>
                    <a:pt x="68" y="22"/>
                  </a:cubicBezTo>
                  <a:cubicBezTo>
                    <a:pt x="67" y="23"/>
                    <a:pt x="65" y="23"/>
                    <a:pt x="64" y="23"/>
                  </a:cubicBezTo>
                  <a:cubicBezTo>
                    <a:pt x="61" y="24"/>
                    <a:pt x="56" y="25"/>
                    <a:pt x="55" y="31"/>
                  </a:cubicBezTo>
                  <a:cubicBezTo>
                    <a:pt x="55" y="36"/>
                    <a:pt x="56" y="42"/>
                    <a:pt x="59" y="45"/>
                  </a:cubicBezTo>
                  <a:cubicBezTo>
                    <a:pt x="62" y="48"/>
                    <a:pt x="64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71" y="49"/>
                    <a:pt x="76" y="42"/>
                    <a:pt x="77" y="38"/>
                  </a:cubicBezTo>
                  <a:cubicBezTo>
                    <a:pt x="77" y="37"/>
                    <a:pt x="78" y="36"/>
                    <a:pt x="78" y="35"/>
                  </a:cubicBezTo>
                  <a:cubicBezTo>
                    <a:pt x="78" y="36"/>
                    <a:pt x="79" y="36"/>
                    <a:pt x="79" y="37"/>
                  </a:cubicBezTo>
                  <a:cubicBezTo>
                    <a:pt x="80" y="38"/>
                    <a:pt x="81" y="39"/>
                    <a:pt x="82" y="41"/>
                  </a:cubicBezTo>
                  <a:cubicBezTo>
                    <a:pt x="83" y="43"/>
                    <a:pt x="84" y="46"/>
                    <a:pt x="87" y="47"/>
                  </a:cubicBezTo>
                  <a:cubicBezTo>
                    <a:pt x="93" y="49"/>
                    <a:pt x="99" y="48"/>
                    <a:pt x="107" y="44"/>
                  </a:cubicBezTo>
                  <a:cubicBezTo>
                    <a:pt x="108" y="48"/>
                    <a:pt x="108" y="52"/>
                    <a:pt x="108" y="56"/>
                  </a:cubicBezTo>
                  <a:cubicBezTo>
                    <a:pt x="108" y="64"/>
                    <a:pt x="106" y="71"/>
                    <a:pt x="103" y="78"/>
                  </a:cubicBezTo>
                  <a:cubicBezTo>
                    <a:pt x="102" y="80"/>
                    <a:pt x="101" y="82"/>
                    <a:pt x="100" y="84"/>
                  </a:cubicBezTo>
                  <a:cubicBezTo>
                    <a:pt x="99" y="85"/>
                    <a:pt x="100" y="86"/>
                    <a:pt x="100" y="87"/>
                  </a:cubicBezTo>
                  <a:cubicBezTo>
                    <a:pt x="101" y="87"/>
                    <a:pt x="103" y="87"/>
                    <a:pt x="103" y="86"/>
                  </a:cubicBezTo>
                  <a:cubicBezTo>
                    <a:pt x="105" y="84"/>
                    <a:pt x="106" y="82"/>
                    <a:pt x="107" y="80"/>
                  </a:cubicBezTo>
                  <a:cubicBezTo>
                    <a:pt x="110" y="72"/>
                    <a:pt x="112" y="64"/>
                    <a:pt x="112" y="56"/>
                  </a:cubicBezTo>
                  <a:cubicBezTo>
                    <a:pt x="112" y="25"/>
                    <a:pt x="87" y="0"/>
                    <a:pt x="56" y="0"/>
                  </a:cubicBezTo>
                  <a:close/>
                  <a:moveTo>
                    <a:pt x="12" y="52"/>
                  </a:moveTo>
                  <a:cubicBezTo>
                    <a:pt x="13" y="53"/>
                    <a:pt x="12" y="55"/>
                    <a:pt x="12" y="56"/>
                  </a:cubicBezTo>
                  <a:cubicBezTo>
                    <a:pt x="11" y="63"/>
                    <a:pt x="11" y="67"/>
                    <a:pt x="13" y="69"/>
                  </a:cubicBezTo>
                  <a:cubicBezTo>
                    <a:pt x="14" y="70"/>
                    <a:pt x="15" y="71"/>
                    <a:pt x="17" y="70"/>
                  </a:cubicBezTo>
                  <a:cubicBezTo>
                    <a:pt x="25" y="68"/>
                    <a:pt x="33" y="59"/>
                    <a:pt x="32" y="48"/>
                  </a:cubicBezTo>
                  <a:cubicBezTo>
                    <a:pt x="32" y="47"/>
                    <a:pt x="32" y="45"/>
                    <a:pt x="33" y="44"/>
                  </a:cubicBezTo>
                  <a:cubicBezTo>
                    <a:pt x="35" y="43"/>
                    <a:pt x="39" y="45"/>
                    <a:pt x="41" y="47"/>
                  </a:cubicBezTo>
                  <a:cubicBezTo>
                    <a:pt x="43" y="49"/>
                    <a:pt x="45" y="50"/>
                    <a:pt x="36" y="61"/>
                  </a:cubicBezTo>
                  <a:cubicBezTo>
                    <a:pt x="35" y="63"/>
                    <a:pt x="34" y="68"/>
                    <a:pt x="39" y="72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44" y="75"/>
                    <a:pt x="47" y="77"/>
                    <a:pt x="41" y="90"/>
                  </a:cubicBezTo>
                  <a:cubicBezTo>
                    <a:pt x="37" y="95"/>
                    <a:pt x="39" y="100"/>
                    <a:pt x="48" y="107"/>
                  </a:cubicBezTo>
                  <a:cubicBezTo>
                    <a:pt x="23" y="104"/>
                    <a:pt x="4" y="82"/>
                    <a:pt x="4" y="56"/>
                  </a:cubicBezTo>
                  <a:cubicBezTo>
                    <a:pt x="4" y="55"/>
                    <a:pt x="4" y="53"/>
                    <a:pt x="4" y="52"/>
                  </a:cubicBezTo>
                  <a:cubicBezTo>
                    <a:pt x="8" y="52"/>
                    <a:pt x="11" y="52"/>
                    <a:pt x="12" y="52"/>
                  </a:cubicBezTo>
                  <a:close/>
                  <a:moveTo>
                    <a:pt x="89" y="44"/>
                  </a:moveTo>
                  <a:cubicBezTo>
                    <a:pt x="87" y="43"/>
                    <a:pt x="87" y="42"/>
                    <a:pt x="85" y="39"/>
                  </a:cubicBezTo>
                  <a:cubicBezTo>
                    <a:pt x="85" y="37"/>
                    <a:pt x="84" y="35"/>
                    <a:pt x="82" y="34"/>
                  </a:cubicBezTo>
                  <a:cubicBezTo>
                    <a:pt x="80" y="32"/>
                    <a:pt x="79" y="31"/>
                    <a:pt x="77" y="31"/>
                  </a:cubicBezTo>
                  <a:cubicBezTo>
                    <a:pt x="75" y="31"/>
                    <a:pt x="74" y="33"/>
                    <a:pt x="73" y="36"/>
                  </a:cubicBezTo>
                  <a:cubicBezTo>
                    <a:pt x="72" y="41"/>
                    <a:pt x="68" y="45"/>
                    <a:pt x="66" y="45"/>
                  </a:cubicBezTo>
                  <a:cubicBezTo>
                    <a:pt x="66" y="45"/>
                    <a:pt x="66" y="45"/>
                    <a:pt x="66" y="45"/>
                  </a:cubicBezTo>
                  <a:cubicBezTo>
                    <a:pt x="65" y="45"/>
                    <a:pt x="64" y="44"/>
                    <a:pt x="63" y="43"/>
                  </a:cubicBezTo>
                  <a:cubicBezTo>
                    <a:pt x="60" y="40"/>
                    <a:pt x="59" y="36"/>
                    <a:pt x="59" y="32"/>
                  </a:cubicBezTo>
                  <a:cubicBezTo>
                    <a:pt x="60" y="29"/>
                    <a:pt x="62" y="28"/>
                    <a:pt x="65" y="27"/>
                  </a:cubicBezTo>
                  <a:cubicBezTo>
                    <a:pt x="67" y="27"/>
                    <a:pt x="69" y="26"/>
                    <a:pt x="70" y="25"/>
                  </a:cubicBezTo>
                  <a:cubicBezTo>
                    <a:pt x="75" y="21"/>
                    <a:pt x="75" y="12"/>
                    <a:pt x="73" y="9"/>
                  </a:cubicBezTo>
                  <a:cubicBezTo>
                    <a:pt x="72" y="8"/>
                    <a:pt x="72" y="7"/>
                    <a:pt x="71" y="6"/>
                  </a:cubicBezTo>
                  <a:cubicBezTo>
                    <a:pt x="88" y="11"/>
                    <a:pt x="101" y="24"/>
                    <a:pt x="106" y="40"/>
                  </a:cubicBezTo>
                  <a:cubicBezTo>
                    <a:pt x="96" y="45"/>
                    <a:pt x="92" y="45"/>
                    <a:pt x="89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823" y="3625"/>
              <a:ext cx="112" cy="119"/>
            </a:xfrm>
            <a:custGeom>
              <a:avLst/>
              <a:gdLst/>
              <a:ahLst/>
              <a:cxnLst/>
              <a:rect l="l" t="t" r="r" b="b"/>
              <a:pathLst>
                <a:path w="16" h="17" extrusionOk="0">
                  <a:moveTo>
                    <a:pt x="11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7" y="2"/>
                    <a:pt x="1" y="6"/>
                    <a:pt x="0" y="10"/>
                  </a:cubicBezTo>
                  <a:cubicBezTo>
                    <a:pt x="0" y="13"/>
                    <a:pt x="3" y="16"/>
                    <a:pt x="6" y="16"/>
                  </a:cubicBezTo>
                  <a:cubicBezTo>
                    <a:pt x="7" y="17"/>
                    <a:pt x="7" y="17"/>
                    <a:pt x="8" y="17"/>
                  </a:cubicBezTo>
                  <a:cubicBezTo>
                    <a:pt x="10" y="17"/>
                    <a:pt x="11" y="16"/>
                    <a:pt x="12" y="14"/>
                  </a:cubicBezTo>
                  <a:cubicBezTo>
                    <a:pt x="13" y="14"/>
                    <a:pt x="13" y="14"/>
                    <a:pt x="13" y="13"/>
                  </a:cubicBezTo>
                  <a:cubicBezTo>
                    <a:pt x="16" y="10"/>
                    <a:pt x="16" y="8"/>
                    <a:pt x="13" y="1"/>
                  </a:cubicBezTo>
                  <a:cubicBezTo>
                    <a:pt x="12" y="0"/>
                    <a:pt x="12" y="0"/>
                    <a:pt x="11" y="0"/>
                  </a:cubicBezTo>
                  <a:close/>
                  <a:moveTo>
                    <a:pt x="10" y="11"/>
                  </a:moveTo>
                  <a:cubicBezTo>
                    <a:pt x="10" y="11"/>
                    <a:pt x="9" y="12"/>
                    <a:pt x="9" y="12"/>
                  </a:cubicBezTo>
                  <a:cubicBezTo>
                    <a:pt x="9" y="12"/>
                    <a:pt x="8" y="13"/>
                    <a:pt x="7" y="13"/>
                  </a:cubicBezTo>
                  <a:cubicBezTo>
                    <a:pt x="6" y="12"/>
                    <a:pt x="4" y="11"/>
                    <a:pt x="4" y="10"/>
                  </a:cubicBezTo>
                  <a:cubicBezTo>
                    <a:pt x="4" y="9"/>
                    <a:pt x="7" y="7"/>
                    <a:pt x="10" y="5"/>
                  </a:cubicBezTo>
                  <a:cubicBezTo>
                    <a:pt x="12" y="9"/>
                    <a:pt x="11" y="9"/>
                    <a:pt x="10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914" y="3394"/>
              <a:ext cx="246" cy="182"/>
            </a:xfrm>
            <a:custGeom>
              <a:avLst/>
              <a:gdLst/>
              <a:ahLst/>
              <a:cxnLst/>
              <a:rect l="l" t="t" r="r" b="b"/>
              <a:pathLst>
                <a:path w="35" h="26" extrusionOk="0">
                  <a:moveTo>
                    <a:pt x="30" y="4"/>
                  </a:moveTo>
                  <a:cubicBezTo>
                    <a:pt x="30" y="4"/>
                    <a:pt x="25" y="0"/>
                    <a:pt x="19" y="1"/>
                  </a:cubicBezTo>
                  <a:cubicBezTo>
                    <a:pt x="15" y="2"/>
                    <a:pt x="12" y="4"/>
                    <a:pt x="10" y="9"/>
                  </a:cubicBezTo>
                  <a:cubicBezTo>
                    <a:pt x="10" y="10"/>
                    <a:pt x="8" y="10"/>
                    <a:pt x="6" y="11"/>
                  </a:cubicBezTo>
                  <a:cubicBezTo>
                    <a:pt x="4" y="11"/>
                    <a:pt x="0" y="12"/>
                    <a:pt x="1" y="15"/>
                  </a:cubicBezTo>
                  <a:cubicBezTo>
                    <a:pt x="2" y="20"/>
                    <a:pt x="14" y="25"/>
                    <a:pt x="14" y="25"/>
                  </a:cubicBezTo>
                  <a:cubicBezTo>
                    <a:pt x="15" y="26"/>
                    <a:pt x="16" y="26"/>
                    <a:pt x="17" y="26"/>
                  </a:cubicBezTo>
                  <a:cubicBezTo>
                    <a:pt x="21" y="26"/>
                    <a:pt x="26" y="24"/>
                    <a:pt x="29" y="18"/>
                  </a:cubicBezTo>
                  <a:cubicBezTo>
                    <a:pt x="30" y="16"/>
                    <a:pt x="32" y="15"/>
                    <a:pt x="32" y="14"/>
                  </a:cubicBezTo>
                  <a:cubicBezTo>
                    <a:pt x="34" y="13"/>
                    <a:pt x="35" y="11"/>
                    <a:pt x="34" y="10"/>
                  </a:cubicBezTo>
                  <a:cubicBezTo>
                    <a:pt x="34" y="8"/>
                    <a:pt x="33" y="7"/>
                    <a:pt x="30" y="4"/>
                  </a:cubicBezTo>
                  <a:close/>
                  <a:moveTo>
                    <a:pt x="29" y="11"/>
                  </a:moveTo>
                  <a:cubicBezTo>
                    <a:pt x="28" y="12"/>
                    <a:pt x="27" y="14"/>
                    <a:pt x="26" y="16"/>
                  </a:cubicBezTo>
                  <a:cubicBezTo>
                    <a:pt x="22" y="23"/>
                    <a:pt x="17" y="22"/>
                    <a:pt x="16" y="22"/>
                  </a:cubicBezTo>
                  <a:cubicBezTo>
                    <a:pt x="12" y="20"/>
                    <a:pt x="7" y="17"/>
                    <a:pt x="5" y="15"/>
                  </a:cubicBezTo>
                  <a:cubicBezTo>
                    <a:pt x="6" y="15"/>
                    <a:pt x="6" y="15"/>
                    <a:pt x="7" y="15"/>
                  </a:cubicBezTo>
                  <a:cubicBezTo>
                    <a:pt x="9" y="14"/>
                    <a:pt x="13" y="13"/>
                    <a:pt x="14" y="10"/>
                  </a:cubicBezTo>
                  <a:cubicBezTo>
                    <a:pt x="15" y="7"/>
                    <a:pt x="17" y="5"/>
                    <a:pt x="20" y="5"/>
                  </a:cubicBezTo>
                  <a:cubicBezTo>
                    <a:pt x="23" y="4"/>
                    <a:pt x="28" y="7"/>
                    <a:pt x="28" y="7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1"/>
                    <a:pt x="29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9"/>
          <p:cNvSpPr txBox="1"/>
          <p:nvPr/>
        </p:nvSpPr>
        <p:spPr>
          <a:xfrm>
            <a:off x="1246113" y="6044545"/>
            <a:ext cx="3977089" cy="27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Please consider our planet before printing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body" idx="2"/>
          </p:nvPr>
        </p:nvSpPr>
        <p:spPr>
          <a:xfrm>
            <a:off x="623887" y="1323793"/>
            <a:ext cx="6891339" cy="219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5453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">
  <p:cSld name="Title and Two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1"/>
          </p:nvPr>
        </p:nvSpPr>
        <p:spPr>
          <a:xfrm>
            <a:off x="623888" y="1819695"/>
            <a:ext cx="5364163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body" idx="2"/>
          </p:nvPr>
        </p:nvSpPr>
        <p:spPr>
          <a:xfrm>
            <a:off x="623889" y="928800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3"/>
          </p:nvPr>
        </p:nvSpPr>
        <p:spPr>
          <a:xfrm>
            <a:off x="6203951" y="1819695"/>
            <a:ext cx="5364163" cy="45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407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- Dark ver.">
  <p:cSld name="Title and Content - Dark ver.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623888" y="1820265"/>
            <a:ext cx="9692421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marL="914377" lvl="1" indent="-3301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0393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ntent - Dark ver.">
  <p:cSld name="Title and Three Content - Dark ver.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623889" y="928800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body" idx="2"/>
          </p:nvPr>
        </p:nvSpPr>
        <p:spPr>
          <a:xfrm>
            <a:off x="623888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3"/>
          </p:nvPr>
        </p:nvSpPr>
        <p:spPr>
          <a:xfrm>
            <a:off x="4359160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4"/>
          </p:nvPr>
        </p:nvSpPr>
        <p:spPr>
          <a:xfrm>
            <a:off x="8094432" y="1819695"/>
            <a:ext cx="3467099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174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5" name="Google Shape;10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23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Fuchsia Simple Left">
  <p:cSld name="1/3 Fuchsia Simple Lef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body" idx="1"/>
          </p:nvPr>
        </p:nvSpPr>
        <p:spPr>
          <a:xfrm>
            <a:off x="4019549" y="0"/>
            <a:ext cx="817245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024" y="6381751"/>
            <a:ext cx="660629" cy="939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06101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Violet Simple Right">
  <p:cSld name="1/3 Violet Simple Rig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17245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0138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Fuchsia Left - Content">
  <p:cSld name="1/3 Fuchsia Left -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038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4619114" y="175847"/>
            <a:ext cx="6942417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4625696" y="1819031"/>
            <a:ext cx="6942419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2"/>
          </p:nvPr>
        </p:nvSpPr>
        <p:spPr>
          <a:xfrm>
            <a:off x="4619114" y="928319"/>
            <a:ext cx="6942417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028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Violet Right - Content">
  <p:cSld name="1/3 Violet Right - Conte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59985" y="0"/>
            <a:ext cx="40320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623888" y="175847"/>
            <a:ext cx="7008287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630471" y="1819031"/>
            <a:ext cx="7008287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2"/>
          </p:nvPr>
        </p:nvSpPr>
        <p:spPr>
          <a:xfrm>
            <a:off x="623888" y="928319"/>
            <a:ext cx="7008287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9104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Violet Right Image ">
  <p:cSld name="1/3 Violet Right Image 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>
            <a:spLocks noGrp="1"/>
          </p:cNvSpPr>
          <p:nvPr>
            <p:ph type="pic" idx="2"/>
          </p:nvPr>
        </p:nvSpPr>
        <p:spPr>
          <a:xfrm>
            <a:off x="7962325" y="0"/>
            <a:ext cx="422967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623888" y="175847"/>
            <a:ext cx="7008287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630471" y="1819031"/>
            <a:ext cx="7008287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3"/>
          </p:nvPr>
        </p:nvSpPr>
        <p:spPr>
          <a:xfrm>
            <a:off x="623888" y="928319"/>
            <a:ext cx="7008287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35235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V and F Dark Gradient #1">
  <p:cSld name="1/2 V and F Dark Gradient #1">
    <p:bg>
      <p:bgPr>
        <a:solidFill>
          <a:schemeClr val="accen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018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V and F Dark Gradient #2">
  <p:cSld name="1/2 V and F Dark Gradient #2">
    <p:bg>
      <p:bgPr>
        <a:solidFill>
          <a:schemeClr val="accen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33856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White Left">
  <p:cSld name="1/2 White Lef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620947" y="175847"/>
            <a:ext cx="4943195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2"/>
          </p:nvPr>
        </p:nvSpPr>
        <p:spPr>
          <a:xfrm>
            <a:off x="627530" y="1819031"/>
            <a:ext cx="4943196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3"/>
          </p:nvPr>
        </p:nvSpPr>
        <p:spPr>
          <a:xfrm>
            <a:off x="620947" y="928319"/>
            <a:ext cx="4943195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77149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White Right">
  <p:cSld name="1/2 White Righ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6609371" y="175847"/>
            <a:ext cx="4943195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2"/>
          </p:nvPr>
        </p:nvSpPr>
        <p:spPr>
          <a:xfrm>
            <a:off x="6615954" y="1819031"/>
            <a:ext cx="4943196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3"/>
          </p:nvPr>
        </p:nvSpPr>
        <p:spPr>
          <a:xfrm>
            <a:off x="6609371" y="928319"/>
            <a:ext cx="4943195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86513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rong message - Violet Dark">
  <p:cSld name="Strong message - Violet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>
            <a:spLocks noGrp="1"/>
          </p:cNvSpPr>
          <p:nvPr>
            <p:ph type="pic" idx="2"/>
          </p:nvPr>
        </p:nvSpPr>
        <p:spPr>
          <a:xfrm>
            <a:off x="369800" y="565694"/>
            <a:ext cx="5726200" cy="57266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Google Shape;149;p22"/>
          <p:cNvSpPr txBox="1">
            <a:spLocks noGrp="1"/>
          </p:cNvSpPr>
          <p:nvPr>
            <p:ph type="body" idx="1"/>
          </p:nvPr>
        </p:nvSpPr>
        <p:spPr>
          <a:xfrm>
            <a:off x="6499654" y="1271884"/>
            <a:ext cx="5068460" cy="205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3"/>
          </p:nvPr>
        </p:nvSpPr>
        <p:spPr>
          <a:xfrm>
            <a:off x="6499654" y="3814263"/>
            <a:ext cx="50684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799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rong message - Fuchsia Dark">
  <p:cSld name="Strong message - Fuchsia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>
            <a:spLocks noGrp="1"/>
          </p:cNvSpPr>
          <p:nvPr>
            <p:ph type="pic" idx="2"/>
          </p:nvPr>
        </p:nvSpPr>
        <p:spPr>
          <a:xfrm>
            <a:off x="6096000" y="565694"/>
            <a:ext cx="5726200" cy="57266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"/>
          </p:nvPr>
        </p:nvSpPr>
        <p:spPr>
          <a:xfrm>
            <a:off x="623889" y="1271884"/>
            <a:ext cx="5068460" cy="205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3"/>
          </p:nvPr>
        </p:nvSpPr>
        <p:spPr>
          <a:xfrm>
            <a:off x="623889" y="3814263"/>
            <a:ext cx="50684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194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ong message - Round Left">
  <p:cSld name="Strong message - Round Left">
    <p:bg>
      <p:bgPr>
        <a:solidFill>
          <a:schemeClr val="accent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6359612" y="1808164"/>
            <a:ext cx="5208501" cy="205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body" idx="2"/>
          </p:nvPr>
        </p:nvSpPr>
        <p:spPr>
          <a:xfrm>
            <a:off x="6359613" y="4350543"/>
            <a:ext cx="5035507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>
            <a:spLocks noGrp="1"/>
          </p:cNvSpPr>
          <p:nvPr>
            <p:ph type="pic" idx="3"/>
          </p:nvPr>
        </p:nvSpPr>
        <p:spPr>
          <a:xfrm>
            <a:off x="0" y="0"/>
            <a:ext cx="598805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638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rong message - Round Right">
  <p:cSld name="Strong message - Round Right">
    <p:bg>
      <p:bgPr>
        <a:solidFill>
          <a:schemeClr val="accen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623888" y="1808164"/>
            <a:ext cx="5208501" cy="205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5000"/>
              <a:buNone/>
              <a:defRPr sz="5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body" idx="2"/>
          </p:nvPr>
        </p:nvSpPr>
        <p:spPr>
          <a:xfrm>
            <a:off x="623889" y="4350543"/>
            <a:ext cx="5035507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5"/>
          <p:cNvSpPr>
            <a:spLocks noGrp="1"/>
          </p:cNvSpPr>
          <p:nvPr>
            <p:ph type="pic" idx="3"/>
          </p:nvPr>
        </p:nvSpPr>
        <p:spPr>
          <a:xfrm>
            <a:off x="6203949" y="0"/>
            <a:ext cx="598805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842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3">
  <p:cSld name="Divider Slide #3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12192000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6"/>
          <p:cNvGrpSpPr/>
          <p:nvPr/>
        </p:nvGrpSpPr>
        <p:grpSpPr>
          <a:xfrm flipH="1">
            <a:off x="1" y="325"/>
            <a:ext cx="7286124" cy="6857676"/>
            <a:chOff x="6703137" y="0"/>
            <a:chExt cx="4803680" cy="4521208"/>
          </a:xfrm>
        </p:grpSpPr>
        <p:pic>
          <p:nvPicPr>
            <p:cNvPr id="171" name="Google Shape;171;p26"/>
            <p:cNvPicPr preferRelativeResize="0"/>
            <p:nvPr/>
          </p:nvPicPr>
          <p:blipFill rotWithShape="1">
            <a:blip r:embed="rId3">
              <a:alphaModFix amt="35000"/>
            </a:blip>
            <a:srcRect/>
            <a:stretch/>
          </p:blipFill>
          <p:spPr>
            <a:xfrm flipH="1">
              <a:off x="6703137" y="0"/>
              <a:ext cx="4803680" cy="30761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6"/>
            <p:cNvPicPr preferRelativeResize="0"/>
            <p:nvPr/>
          </p:nvPicPr>
          <p:blipFill rotWithShape="1">
            <a:blip r:embed="rId4">
              <a:alphaModFix amt="35000"/>
            </a:blip>
            <a:srcRect/>
            <a:stretch/>
          </p:blipFill>
          <p:spPr>
            <a:xfrm flipH="1">
              <a:off x="6703137" y="3075709"/>
              <a:ext cx="4803680" cy="14454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3" name="Google Shape;17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2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body" idx="3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2049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#4">
  <p:cSld name="Divider Slide #4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27"/>
          <p:cNvGrpSpPr/>
          <p:nvPr/>
        </p:nvGrpSpPr>
        <p:grpSpPr>
          <a:xfrm flipH="1">
            <a:off x="1" y="325"/>
            <a:ext cx="7286124" cy="6857676"/>
            <a:chOff x="6703137" y="0"/>
            <a:chExt cx="4803680" cy="4521208"/>
          </a:xfrm>
        </p:grpSpPr>
        <p:pic>
          <p:nvPicPr>
            <p:cNvPr id="180" name="Google Shape;180;p27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 flipH="1">
              <a:off x="6703137" y="0"/>
              <a:ext cx="4803680" cy="30761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7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 flipH="1">
              <a:off x="6703137" y="3075709"/>
              <a:ext cx="4803680" cy="1445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3415112" y="2066464"/>
            <a:ext cx="6576053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2"/>
          </p:nvPr>
        </p:nvSpPr>
        <p:spPr>
          <a:xfrm>
            <a:off x="3447384" y="3399522"/>
            <a:ext cx="6543781" cy="114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3"/>
          </p:nvPr>
        </p:nvSpPr>
        <p:spPr>
          <a:xfrm>
            <a:off x="792249" y="2263961"/>
            <a:ext cx="2121073" cy="23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sz="166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1602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rk Gradient #3">
  <p:cSld name="Dark Gradient #3">
    <p:bg>
      <p:bgPr>
        <a:solidFill>
          <a:schemeClr val="accent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3378" y="6400951"/>
            <a:ext cx="870525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body" idx="1"/>
          </p:nvPr>
        </p:nvSpPr>
        <p:spPr>
          <a:xfrm>
            <a:off x="623889" y="928319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2"/>
          </p:nvPr>
        </p:nvSpPr>
        <p:spPr>
          <a:xfrm>
            <a:off x="623888" y="1820265"/>
            <a:ext cx="9692421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marL="914377" lvl="1" indent="-330192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2pPr>
            <a:lvl3pPr marL="1371566" lvl="2" indent="-3174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–"/>
              <a:defRPr>
                <a:solidFill>
                  <a:schemeClr val="lt2"/>
                </a:solidFill>
              </a:defRPr>
            </a:lvl3pPr>
            <a:lvl4pPr marL="1828754" lvl="3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>
                <a:solidFill>
                  <a:schemeClr val="lt2"/>
                </a:solidFill>
              </a:defRPr>
            </a:lvl4pPr>
            <a:lvl5pPr marL="2285943" lvl="4" indent="-30479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Char char="–"/>
              <a:defRPr>
                <a:solidFill>
                  <a:schemeClr val="lt2"/>
                </a:solidFill>
              </a:defRPr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91919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7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_blank">
  <p:cSld name="Thank you_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1"/>
          </p:nvPr>
        </p:nvSpPr>
        <p:spPr>
          <a:xfrm>
            <a:off x="623888" y="3885757"/>
            <a:ext cx="4252912" cy="35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3"/>
          </p:nvPr>
        </p:nvSpPr>
        <p:spPr>
          <a:xfrm>
            <a:off x="623887" y="1323791"/>
            <a:ext cx="6891339" cy="21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-2280862" y="765175"/>
            <a:ext cx="2137025" cy="34236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46" marR="0" lvl="0" indent="-17144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only the ‘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Picture</a:t>
            </a: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46" marR="0" lvl="0" indent="-17144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not remove the logos &amp; gradient overlay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46" marR="0" lvl="0" indent="-17144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fix the object layers of the slide, you can edit the layer order by accessing the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Selection Pane </a:t>
            </a: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option. This can be found in the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tab &gt;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Arrange </a:t>
            </a: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(click drop down) &gt;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Selection pane. </a:t>
            </a: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Once you’ve clicked it, a tab will immediately show up in the right part of the application.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0062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Page Blank">
  <p:cSld name="Full Page Blank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>
            <a:spLocks noGrp="1"/>
          </p:cNvSpPr>
          <p:nvPr>
            <p:ph type="pic" idx="2"/>
          </p:nvPr>
        </p:nvSpPr>
        <p:spPr>
          <a:xfrm>
            <a:off x="15349" y="0"/>
            <a:ext cx="121766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97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- Violet_footer">
  <p:cSld name="Title and Two Content - Violet_footer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"/>
          </p:nvPr>
        </p:nvSpPr>
        <p:spPr>
          <a:xfrm>
            <a:off x="623888" y="1819695"/>
            <a:ext cx="5364163" cy="45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2"/>
          </p:nvPr>
        </p:nvSpPr>
        <p:spPr>
          <a:xfrm>
            <a:off x="623889" y="928800"/>
            <a:ext cx="9692420" cy="78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3"/>
          </p:nvPr>
        </p:nvSpPr>
        <p:spPr>
          <a:xfrm>
            <a:off x="6203951" y="1819695"/>
            <a:ext cx="5364163" cy="45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22859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377" lvl="1" indent="-342891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3pPr>
            <a:lvl4pPr marL="1828754" lvl="3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–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11995153" y="0"/>
            <a:ext cx="19684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051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52981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35012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Violet_footer">
  <p:cSld name="Title and Content - Violet_foot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3888" y="175847"/>
            <a:ext cx="9692400" cy="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3887" y="1820265"/>
            <a:ext cx="9692400" cy="4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marL="1219170" lvl="1" indent="-40639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Char char="•"/>
              <a:defRPr/>
            </a:lvl2pPr>
            <a:lvl3pPr marL="1828754" lvl="2" indent="-3979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100"/>
              <a:buChar char="–"/>
              <a:defRPr/>
            </a:lvl3pPr>
            <a:lvl4pPr marL="2438339" lvl="3" indent="-380990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900"/>
              <a:buChar char="•"/>
              <a:defRPr/>
            </a:lvl4pPr>
            <a:lvl5pPr marL="3047924" lvl="4" indent="-380990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9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623888" y="928319"/>
            <a:ext cx="96924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2000" b="1">
                <a:solidFill>
                  <a:schemeClr val="accent1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1400"/>
              <a:buChar char="–"/>
              <a:defRPr/>
            </a:lvl3pPr>
            <a:lvl4pPr marL="2438339" lvl="3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267"/>
              </a:spcBef>
              <a:spcAft>
                <a:spcPts val="0"/>
              </a:spcAft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1234912" y="6400192"/>
            <a:ext cx="9081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6129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66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57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56.xml"/><Relationship Id="rId38" Type="http://schemas.openxmlformats.org/officeDocument/2006/relationships/slideLayout" Target="../slideLayouts/slideLayout61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37" Type="http://schemas.openxmlformats.org/officeDocument/2006/relationships/slideLayout" Target="../slideLayouts/slideLayout60.xml"/><Relationship Id="rId40" Type="http://schemas.openxmlformats.org/officeDocument/2006/relationships/image" Target="../media/image5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35" Type="http://schemas.openxmlformats.org/officeDocument/2006/relationships/slideLayout" Target="../slideLayouts/slideLayout58.xml"/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2652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3889" y="175847"/>
            <a:ext cx="9692420" cy="66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3888" y="1793631"/>
            <a:ext cx="9692421" cy="45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0713375" y="6400951"/>
            <a:ext cx="870531" cy="1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9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9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748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708" r:id="rId21"/>
    <p:sldLayoutId id="2147483709" r:id="rId22"/>
    <p:sldLayoutId id="2147483710" r:id="rId23"/>
    <p:sldLayoutId id="2147483711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07" r:id="rId34"/>
    <p:sldLayoutId id="2147483694" r:id="rId35"/>
    <p:sldLayoutId id="2147483695" r:id="rId36"/>
    <p:sldLayoutId id="2147483696" r:id="rId37"/>
    <p:sldLayoutId id="2147483697" r:id="rId3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029" userDrawn="1">
          <p15:clr>
            <a:srgbClr val="F26B43"/>
          </p15:clr>
        </p15:guide>
        <p15:guide id="2" pos="524" userDrawn="1">
          <p15:clr>
            <a:srgbClr val="F26B43"/>
          </p15:clr>
        </p15:guide>
        <p15:guide id="3" pos="9716" userDrawn="1">
          <p15:clr>
            <a:srgbClr val="F26B43"/>
          </p15:clr>
        </p15:guide>
        <p15:guide id="4" orient="horz" pos="5360" userDrawn="1">
          <p15:clr>
            <a:srgbClr val="F26B43"/>
          </p15:clr>
        </p15:guide>
        <p15:guide id="5" orient="horz" pos="1519" userDrawn="1">
          <p15:clr>
            <a:srgbClr val="F26B43"/>
          </p15:clr>
        </p15:guide>
        <p15:guide id="6" orient="horz" pos="643" userDrawn="1">
          <p15:clr>
            <a:srgbClr val="F26B43"/>
          </p15:clr>
        </p15:guide>
        <p15:guide id="7" pos="521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CF26E4B-4CA9-C1DC-4B34-94410F17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B5BB245-216C-D920-E684-36F4A225C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0699" y="1808163"/>
            <a:ext cx="10967600" cy="1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600">
                <a:solidFill>
                  <a:schemeClr val="bg1"/>
                </a:solidFill>
                <a:sym typeface="Inter Black"/>
              </a:rPr>
              <a:t>Finastra Platform </a:t>
            </a:r>
            <a:br>
              <a:rPr lang="en" sz="4600"/>
            </a:br>
            <a:r>
              <a:rPr lang="en" sz="4600">
                <a:solidFill>
                  <a:schemeClr val="bg1"/>
                </a:solidFill>
                <a:sym typeface="Inter Black"/>
              </a:rPr>
              <a:t>Shared Services</a:t>
            </a:r>
            <a:endParaRPr sz="4600">
              <a:solidFill>
                <a:schemeClr val="bg1"/>
              </a:solidFill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2C581943-8320-4569-2CAA-FDBB9D7CBF9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1332" y="3940392"/>
            <a:ext cx="90432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" sz="2100">
                <a:solidFill>
                  <a:schemeClr val="bg1"/>
                </a:solidFill>
              </a:rPr>
              <a:t>Grafana Cloud BU-Aligned Architecture: Observability Pod</a:t>
            </a:r>
            <a:endParaRPr lang="en-US" sz="2100">
              <a:solidFill>
                <a:schemeClr val="bg1"/>
              </a:solidFill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D2FC5C04-6FEA-11DE-DB7A-241EE07E87C4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8860" y="4348817"/>
            <a:ext cx="90432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" sz="1600" b="1">
                <a:solidFill>
                  <a:srgbClr val="FFFFFF"/>
                </a:solidFill>
              </a:rPr>
              <a:t>Date: May, 2026</a:t>
            </a:r>
            <a:endParaRPr lang="en-US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3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>
            <a:spLocks noGrp="1"/>
          </p:cNvSpPr>
          <p:nvPr>
            <p:ph type="title"/>
          </p:nvPr>
        </p:nvSpPr>
        <p:spPr>
          <a:xfrm>
            <a:off x="623903" y="175851"/>
            <a:ext cx="109443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>
                <a:solidFill>
                  <a:schemeClr val="accent2"/>
                </a:solidFill>
              </a:rPr>
              <a:t>Deliverable Overview</a:t>
            </a:r>
            <a:endParaRPr sz="2000" b="1">
              <a:solidFill>
                <a:schemeClr val="accent2"/>
              </a:solidFill>
            </a:endParaRPr>
          </a:p>
        </p:txBody>
      </p:sp>
      <p:sp>
        <p:nvSpPr>
          <p:cNvPr id="439" name="Google Shape;439;p64"/>
          <p:cNvSpPr txBox="1">
            <a:spLocks noGrp="1"/>
          </p:cNvSpPr>
          <p:nvPr>
            <p:ph type="sldNum" idx="12"/>
          </p:nvPr>
        </p:nvSpPr>
        <p:spPr>
          <a:xfrm>
            <a:off x="623887" y="6400192"/>
            <a:ext cx="601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91919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91919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0" name="Google Shape;440;p64"/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91919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Aspirations Program: Shared Services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91919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4DF7C-FDDC-110F-9ECE-D1408EA9395A}"/>
              </a:ext>
            </a:extLst>
          </p:cNvPr>
          <p:cNvSpPr txBox="1"/>
          <p:nvPr/>
        </p:nvSpPr>
        <p:spPr>
          <a:xfrm>
            <a:off x="623888" y="949753"/>
            <a:ext cx="208797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137A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Deliverable Purpose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7C4008-437F-918D-F887-17E602A0992C}"/>
              </a:ext>
            </a:extLst>
          </p:cNvPr>
          <p:cNvCxnSpPr>
            <a:cxnSpLocks/>
          </p:cNvCxnSpPr>
          <p:nvPr/>
        </p:nvCxnSpPr>
        <p:spPr>
          <a:xfrm>
            <a:off x="4158953" y="1241990"/>
            <a:ext cx="0" cy="282580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78C323-F887-1E1B-2935-2FA5B9B8A9AA}"/>
              </a:ext>
            </a:extLst>
          </p:cNvPr>
          <p:cNvCxnSpPr>
            <a:cxnSpLocks/>
          </p:cNvCxnSpPr>
          <p:nvPr/>
        </p:nvCxnSpPr>
        <p:spPr>
          <a:xfrm>
            <a:off x="8395769" y="1241990"/>
            <a:ext cx="0" cy="47172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3BB93E-5A74-3DE9-C2DC-1E6A8D4F5CC0}"/>
              </a:ext>
            </a:extLst>
          </p:cNvPr>
          <p:cNvSpPr txBox="1"/>
          <p:nvPr/>
        </p:nvSpPr>
        <p:spPr>
          <a:xfrm>
            <a:off x="4305256" y="949751"/>
            <a:ext cx="2087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137A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Supported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63295-AD8C-1DCE-7BFF-34E5FFDE5FD7}"/>
              </a:ext>
            </a:extLst>
          </p:cNvPr>
          <p:cNvSpPr txBox="1"/>
          <p:nvPr/>
        </p:nvSpPr>
        <p:spPr>
          <a:xfrm>
            <a:off x="8524452" y="844039"/>
            <a:ext cx="32915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137A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Key Questions Answered in this Document</a:t>
            </a:r>
          </a:p>
          <a:p>
            <a:pPr defTabSz="1219170">
              <a:defRPr/>
            </a:pPr>
            <a:endParaRPr lang="en-US" sz="1600" b="1" kern="0">
              <a:solidFill>
                <a:srgbClr val="C137A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80F95-DAF3-FA16-D13A-60B288B16D10}"/>
              </a:ext>
            </a:extLst>
          </p:cNvPr>
          <p:cNvCxnSpPr>
            <a:cxnSpLocks/>
          </p:cNvCxnSpPr>
          <p:nvPr/>
        </p:nvCxnSpPr>
        <p:spPr>
          <a:xfrm>
            <a:off x="524143" y="4157052"/>
            <a:ext cx="7657031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8AD096-458E-26A9-6B88-4D15FF519533}"/>
              </a:ext>
            </a:extLst>
          </p:cNvPr>
          <p:cNvSpPr txBox="1"/>
          <p:nvPr/>
        </p:nvSpPr>
        <p:spPr>
          <a:xfrm>
            <a:off x="524142" y="4246307"/>
            <a:ext cx="7818758" cy="206210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F04E9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This document summarizes the </a:t>
            </a:r>
            <a:r>
              <a:rPr lang="en-US" sz="2100" b="1" kern="0">
                <a:solidFill>
                  <a:srgbClr val="F04E98"/>
                </a:solidFill>
              </a:rPr>
              <a:t>strategic evolution Grafana Cloud stack management  framework originally established in Pattern 005 and introduces a deliberate architectural shift to Business Unit aligned </a:t>
            </a:r>
            <a:r>
              <a:rPr lang="en-US" sz="2100" b="1" kern="0" err="1">
                <a:solidFill>
                  <a:srgbClr val="F04E98"/>
                </a:solidFill>
              </a:rPr>
              <a:t>stac</a:t>
            </a:r>
            <a:r>
              <a:rPr lang="en-US" sz="2100" b="1" kern="0">
                <a:solidFill>
                  <a:srgbClr val="F04E98"/>
                </a:solidFill>
              </a:rPr>
              <a:t>k model consolidating an ecosystem of more than one hundred per-product stacks into approximately five to six BU-aligned stacks.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2396A-7B81-AA99-EBAC-EF80BEDCDD4D}"/>
              </a:ext>
            </a:extLst>
          </p:cNvPr>
          <p:cNvSpPr txBox="1"/>
          <p:nvPr/>
        </p:nvSpPr>
        <p:spPr>
          <a:xfrm>
            <a:off x="385683" y="1532877"/>
            <a:ext cx="3666894" cy="35240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defTabSz="914400">
              <a:buChar char="•"/>
              <a:defRPr/>
            </a:pPr>
            <a:r>
              <a:rPr lang="en-US" sz="1300"/>
              <a:t>Evaluate  existing Grafana Cloud stack management  framework originally established in Pattern 005</a:t>
            </a:r>
          </a:p>
          <a:p>
            <a:pPr marL="285750" indent="-285750" defTabSz="914400">
              <a:buChar char="•"/>
              <a:defRPr/>
            </a:pPr>
            <a:r>
              <a:rPr lang="en-US" sz="1300"/>
              <a:t>Establish a clear separation between two distinct boundaries:</a:t>
            </a:r>
          </a:p>
          <a:p>
            <a:pPr marL="742950" lvl="1" indent="-285750" defTabSz="914400">
              <a:buFont typeface="Courier New"/>
              <a:buChar char="o"/>
              <a:defRPr/>
            </a:pPr>
            <a:r>
              <a:rPr lang="en-US" sz="1300"/>
              <a:t>The View Stack (BU Level) serves as the Operational Boundary.</a:t>
            </a:r>
          </a:p>
          <a:p>
            <a:pPr marL="742950" lvl="1" indent="-285750" defTabSz="914400">
              <a:buFont typeface="Courier New"/>
              <a:buChar char="o"/>
              <a:defRPr/>
            </a:pPr>
            <a:r>
              <a:rPr lang="en-US" sz="1300"/>
              <a:t>The Product Label serves as the Security Boundary.</a:t>
            </a:r>
          </a:p>
          <a:p>
            <a:pPr marL="285750" indent="-285750" defTabSz="914400">
              <a:buFont typeface="Arial"/>
              <a:buChar char="•"/>
              <a:defRPr/>
            </a:pPr>
            <a:r>
              <a:rPr lang="en-US" sz="1300"/>
              <a:t>Design Pattern 006 without compromising the enterprise-grade security guarantees that Pattern 005 established.</a:t>
            </a:r>
          </a:p>
          <a:p>
            <a:pPr marL="742950" lvl="1" indent="-285750" defTabSz="914400">
              <a:buFont typeface="Courier New"/>
              <a:buChar char="o"/>
              <a:defRPr/>
            </a:pPr>
            <a:endParaRPr lang="en-US" sz="1300"/>
          </a:p>
          <a:p>
            <a:pPr lvl="1" defTabSz="914400">
              <a:defRPr/>
            </a:pPr>
            <a:endParaRPr lang="en-US" sz="1300"/>
          </a:p>
          <a:p>
            <a:pPr marL="742950" lvl="1" indent="-285750" defTabSz="914400">
              <a:buFont typeface="Courier New"/>
              <a:buChar char="o"/>
              <a:defRPr/>
            </a:pPr>
            <a:endParaRPr lang="en-US" sz="1300"/>
          </a:p>
          <a:p>
            <a:pPr marL="285750" indent="-285750" defTabSz="914400">
              <a:buFont typeface="Arial"/>
              <a:buChar char="•"/>
              <a:defRPr/>
            </a:pPr>
            <a:endParaRPr lang="en-US" sz="1300"/>
          </a:p>
          <a:p>
            <a:pPr marL="285750" indent="-285750" defTabSz="914400">
              <a:buFont typeface="Arial"/>
              <a:buChar char="•"/>
              <a:defRPr/>
            </a:pPr>
            <a:endParaRPr lang="en-US" sz="13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5C0AB8-AB9A-2592-F534-3EBED875E1FA}"/>
              </a:ext>
            </a:extLst>
          </p:cNvPr>
          <p:cNvSpPr txBox="1"/>
          <p:nvPr/>
        </p:nvSpPr>
        <p:spPr>
          <a:xfrm>
            <a:off x="4306755" y="1531918"/>
            <a:ext cx="4035823" cy="344190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7965" indent="-227965" defTabSz="1219170">
              <a:spcBef>
                <a:spcPts val="800"/>
              </a:spcBef>
              <a:buFont typeface="Arial"/>
              <a:buChar char="•"/>
              <a:defRPr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Segoe UI"/>
              </a:rPr>
              <a:t>Consolidate an ecosystem of more than one hundred per-product stacks into approximately five to six BU-aligned stacks (Lending, Payment).</a:t>
            </a:r>
            <a:endParaRPr lang="en-US" sz="1300" b="0" i="0" u="none" strike="noStrike" kern="0" cap="none" spc="0" normalizeH="0" baseline="0" noProof="0">
              <a:ln>
                <a:noFill/>
              </a:ln>
              <a:solidFill>
                <a:srgbClr val="1F2328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Segoe UI"/>
            </a:endParaRPr>
          </a:p>
          <a:p>
            <a:pPr marL="285750" indent="-285750" defTabSz="1219170">
              <a:spcBef>
                <a:spcPts val="800"/>
              </a:spcBef>
              <a:buFont typeface="Arial"/>
              <a:buChar char="•"/>
              <a:defRPr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Segoe UI"/>
              </a:rPr>
              <a:t>Design High-Level Target State Architecture including control plane, telemetry ingestion tier, and Grafana Cloud boundary that compose the BU-aligned model.</a:t>
            </a:r>
          </a:p>
          <a:p>
            <a:pPr marL="285750" indent="-285750" defTabSz="1219170">
              <a:spcBef>
                <a:spcPts val="800"/>
              </a:spcBef>
              <a:buFont typeface="Arial"/>
              <a:buChar char="•"/>
              <a:defRPr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Segoe UI"/>
              </a:rPr>
              <a:t>Design BU-Aligned Org Structure and introduce naming convention: Product ID tier is replaced by the Business Unit tier.</a:t>
            </a:r>
          </a:p>
          <a:p>
            <a:pPr marL="285750" indent="-285750" defTabSz="1219170">
              <a:spcBef>
                <a:spcPts val="800"/>
              </a:spcBef>
              <a:buFont typeface="Arial"/>
              <a:buChar char="•"/>
              <a:defRPr/>
            </a:pPr>
            <a:endParaRPr lang="en-US" sz="1300" b="0" i="0" u="none" strike="noStrike" kern="0" cap="none" spc="0" normalizeH="0" baseline="0" noProof="0">
              <a:ln>
                <a:noFill/>
              </a:ln>
              <a:solidFill>
                <a:srgbClr val="1F2328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Segoe UI"/>
            </a:endParaRPr>
          </a:p>
          <a:p>
            <a:pPr marL="227965" indent="-227965" defTabSz="1219170">
              <a:spcBef>
                <a:spcPts val="800"/>
              </a:spcBef>
              <a:buFont typeface="Arial"/>
              <a:buChar char="•"/>
              <a:defRPr/>
            </a:pPr>
            <a:endParaRPr lang="en-US" sz="1300" kern="0">
              <a:solidFill>
                <a:srgbClr val="1F2328"/>
              </a:solidFill>
              <a:highlight>
                <a:srgbClr val="FFFFFF"/>
              </a:highlight>
              <a:cs typeface="Segoe UI"/>
            </a:endParaRPr>
          </a:p>
          <a:p>
            <a:pPr marL="228594" indent="-228594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endParaRPr lang="en-US" sz="1333" kern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C5F39-FB14-A23C-9AFD-3094F2DFD280}"/>
              </a:ext>
            </a:extLst>
          </p:cNvPr>
          <p:cNvSpPr txBox="1"/>
          <p:nvPr/>
        </p:nvSpPr>
        <p:spPr>
          <a:xfrm>
            <a:off x="8522947" y="1530606"/>
            <a:ext cx="3285850" cy="3770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latin typeface="Arial"/>
                <a:cs typeface="Segoe UI"/>
                <a:sym typeface="Arial"/>
              </a:rPr>
              <a:t>What is the purpose of evolving the Grafana Cloud stack management framework?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latin typeface="Arial"/>
                <a:cs typeface="Segoe UI"/>
                <a:sym typeface="Arial"/>
              </a:rPr>
              <a:t>What were the key characteristics of the original framework established in Pattern 005?</a:t>
            </a:r>
            <a:endParaRPr lang="en-US" sz="1300" kern="0">
              <a:solidFill>
                <a:srgbClr val="1F2328"/>
              </a:solidFill>
              <a:highlight>
                <a:srgbClr val="FFFFFF"/>
              </a:highlight>
              <a:latin typeface="Arial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Segoe UI"/>
              </a:rPr>
              <a:t>What does the shift to a business unit–aligned stack model involve?</a:t>
            </a:r>
          </a:p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Arial"/>
              </a:rPr>
              <a:t>Why is the organization moving away from a per-product stack model?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Arial"/>
              </a:rPr>
              <a:t>What are the benefits of reducing the number of stacks from over 100 to 5-6?</a:t>
            </a:r>
          </a:p>
          <a:p>
            <a:pPr marL="285750" indent="-285750">
              <a:buFont typeface="Arial"/>
              <a:buChar char="•"/>
            </a:pP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Arial"/>
              </a:rPr>
              <a:t>What will be proper boundaries for the </a:t>
            </a:r>
            <a:r>
              <a:rPr lang="en-US" sz="1300" kern="0" err="1">
                <a:solidFill>
                  <a:srgbClr val="1F2328"/>
                </a:solidFill>
                <a:highlight>
                  <a:srgbClr val="FFFFFF"/>
                </a:highlight>
                <a:cs typeface="Arial"/>
              </a:rPr>
              <a:t>differe</a:t>
            </a:r>
            <a:r>
              <a:rPr lang="en-US" sz="1300" kern="0">
                <a:solidFill>
                  <a:srgbClr val="1F2328"/>
                </a:solidFill>
                <a:highlight>
                  <a:srgbClr val="FFFFFF"/>
                </a:highlight>
                <a:cs typeface="Arial"/>
              </a:rPr>
              <a:t>nt environments within stack?</a:t>
            </a:r>
          </a:p>
          <a:p>
            <a:pPr marL="285750" indent="-285750">
              <a:buFont typeface="Arial"/>
              <a:buChar char="•"/>
            </a:pPr>
            <a:endParaRPr lang="en-US" sz="1300" kern="0">
              <a:solidFill>
                <a:srgbClr val="1F2328"/>
              </a:solidFill>
              <a:highlight>
                <a:srgbClr val="FFFFFF"/>
              </a:highlight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1300" kern="0">
              <a:solidFill>
                <a:srgbClr val="1F2328"/>
              </a:solidFill>
              <a:highlight>
                <a:srgbClr val="FFFFFF"/>
              </a:highlight>
              <a:cs typeface="Segoe UI"/>
            </a:endParaRPr>
          </a:p>
          <a:p>
            <a:pPr algn="ctr"/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5261-3F64-3C76-4828-BAFF3627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75847"/>
            <a:ext cx="10555500" cy="668216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>
                <a:solidFill>
                  <a:schemeClr val="accent2"/>
                </a:solidFill>
              </a:rPr>
              <a:t>Observability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28E02-A2BB-5459-5737-C40D9B3008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91919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t>3</a:t>
            </a:fld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91919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494;p66">
            <a:extLst>
              <a:ext uri="{FF2B5EF4-FFF2-40B4-BE49-F238E27FC236}">
                <a16:creationId xmlns:a16="http://schemas.microsoft.com/office/drawing/2014/main" id="{C725C98E-F5EB-442B-D675-291EB0E6FA98}"/>
              </a:ext>
            </a:extLst>
          </p:cNvPr>
          <p:cNvSpPr/>
          <p:nvPr/>
        </p:nvSpPr>
        <p:spPr>
          <a:xfrm>
            <a:off x="2893791" y="1562941"/>
            <a:ext cx="8203396" cy="3521497"/>
          </a:xfrm>
          <a:prstGeom prst="roundRect">
            <a:avLst>
              <a:gd name="adj" fmla="val 327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498;p66">
            <a:extLst>
              <a:ext uri="{FF2B5EF4-FFF2-40B4-BE49-F238E27FC236}">
                <a16:creationId xmlns:a16="http://schemas.microsoft.com/office/drawing/2014/main" id="{8DF4716A-57C2-EA8F-9F48-960B69E3395D}"/>
              </a:ext>
            </a:extLst>
          </p:cNvPr>
          <p:cNvSpPr/>
          <p:nvPr/>
        </p:nvSpPr>
        <p:spPr>
          <a:xfrm>
            <a:off x="2750780" y="1476049"/>
            <a:ext cx="8428609" cy="4497236"/>
          </a:xfrm>
          <a:prstGeom prst="roundRect">
            <a:avLst>
              <a:gd name="adj" fmla="val 3279"/>
            </a:avLst>
          </a:prstGeom>
          <a:noFill/>
          <a:ln w="1905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499;p66">
            <a:extLst>
              <a:ext uri="{FF2B5EF4-FFF2-40B4-BE49-F238E27FC236}">
                <a16:creationId xmlns:a16="http://schemas.microsoft.com/office/drawing/2014/main" id="{20AC7785-EC8E-B9A4-C8B9-9A356004426B}"/>
              </a:ext>
            </a:extLst>
          </p:cNvPr>
          <p:cNvSpPr/>
          <p:nvPr/>
        </p:nvSpPr>
        <p:spPr>
          <a:xfrm>
            <a:off x="816197" y="1744476"/>
            <a:ext cx="1260913" cy="3521497"/>
          </a:xfrm>
          <a:prstGeom prst="roundRect">
            <a:avLst>
              <a:gd name="adj" fmla="val 3279"/>
            </a:avLst>
          </a:prstGeom>
          <a:noFill/>
          <a:ln w="1905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Google Shape;500;p66">
            <a:extLst>
              <a:ext uri="{FF2B5EF4-FFF2-40B4-BE49-F238E27FC236}">
                <a16:creationId xmlns:a16="http://schemas.microsoft.com/office/drawing/2014/main" id="{EFA15F8B-E2E4-91DF-12F4-2307B0D3C0AF}"/>
              </a:ext>
            </a:extLst>
          </p:cNvPr>
          <p:cNvSpPr txBox="1"/>
          <p:nvPr/>
        </p:nvSpPr>
        <p:spPr>
          <a:xfrm>
            <a:off x="816189" y="1744475"/>
            <a:ext cx="1260913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Core Personas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501;p66">
            <a:extLst>
              <a:ext uri="{FF2B5EF4-FFF2-40B4-BE49-F238E27FC236}">
                <a16:creationId xmlns:a16="http://schemas.microsoft.com/office/drawing/2014/main" id="{C52444D1-F041-B01D-09F0-1DF64C100A31}"/>
              </a:ext>
            </a:extLst>
          </p:cNvPr>
          <p:cNvSpPr/>
          <p:nvPr/>
        </p:nvSpPr>
        <p:spPr>
          <a:xfrm>
            <a:off x="2213133" y="2544657"/>
            <a:ext cx="412704" cy="626939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1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Google Shape;502;p66">
            <a:extLst>
              <a:ext uri="{FF2B5EF4-FFF2-40B4-BE49-F238E27FC236}">
                <a16:creationId xmlns:a16="http://schemas.microsoft.com/office/drawing/2014/main" id="{E07A2686-D522-8343-78CA-F679362B50FE}"/>
              </a:ext>
            </a:extLst>
          </p:cNvPr>
          <p:cNvSpPr txBox="1"/>
          <p:nvPr/>
        </p:nvSpPr>
        <p:spPr>
          <a:xfrm>
            <a:off x="2893790" y="1169241"/>
            <a:ext cx="8154975" cy="27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Next-Gen Developer Portal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Google Shape;503;p66">
            <a:extLst>
              <a:ext uri="{FF2B5EF4-FFF2-40B4-BE49-F238E27FC236}">
                <a16:creationId xmlns:a16="http://schemas.microsoft.com/office/drawing/2014/main" id="{07143E7C-C698-FC16-937C-0353628081FB}"/>
              </a:ext>
            </a:extLst>
          </p:cNvPr>
          <p:cNvSpPr/>
          <p:nvPr/>
        </p:nvSpPr>
        <p:spPr>
          <a:xfrm>
            <a:off x="2983946" y="1682432"/>
            <a:ext cx="1665452" cy="3278267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Google Shape;504;p66">
            <a:extLst>
              <a:ext uri="{FF2B5EF4-FFF2-40B4-BE49-F238E27FC236}">
                <a16:creationId xmlns:a16="http://schemas.microsoft.com/office/drawing/2014/main" id="{829DB690-6097-F612-5FC2-585280FA62AB}"/>
              </a:ext>
            </a:extLst>
          </p:cNvPr>
          <p:cNvSpPr/>
          <p:nvPr/>
        </p:nvSpPr>
        <p:spPr>
          <a:xfrm>
            <a:off x="4729412" y="1684559"/>
            <a:ext cx="1672491" cy="3278267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505;p66">
            <a:extLst>
              <a:ext uri="{FF2B5EF4-FFF2-40B4-BE49-F238E27FC236}">
                <a16:creationId xmlns:a16="http://schemas.microsoft.com/office/drawing/2014/main" id="{C57ADDF2-DD3D-F10B-C84C-3BCCC6641804}"/>
              </a:ext>
            </a:extLst>
          </p:cNvPr>
          <p:cNvSpPr/>
          <p:nvPr/>
        </p:nvSpPr>
        <p:spPr>
          <a:xfrm>
            <a:off x="6489157" y="1682424"/>
            <a:ext cx="4559444" cy="608640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Google Shape;506;p66">
            <a:extLst>
              <a:ext uri="{FF2B5EF4-FFF2-40B4-BE49-F238E27FC236}">
                <a16:creationId xmlns:a16="http://schemas.microsoft.com/office/drawing/2014/main" id="{A153D060-FECC-D1B8-9475-74E9A922614C}"/>
              </a:ext>
            </a:extLst>
          </p:cNvPr>
          <p:cNvSpPr txBox="1"/>
          <p:nvPr/>
        </p:nvSpPr>
        <p:spPr>
          <a:xfrm>
            <a:off x="2983946" y="1682425"/>
            <a:ext cx="1665452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Service Portal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5" name="Google Shape;507;p66">
            <a:extLst>
              <a:ext uri="{FF2B5EF4-FFF2-40B4-BE49-F238E27FC236}">
                <a16:creationId xmlns:a16="http://schemas.microsoft.com/office/drawing/2014/main" id="{19C7B27D-00DB-312C-11A6-3DB430CCD1CD}"/>
              </a:ext>
            </a:extLst>
          </p:cNvPr>
          <p:cNvSpPr txBox="1"/>
          <p:nvPr/>
        </p:nvSpPr>
        <p:spPr>
          <a:xfrm>
            <a:off x="4736551" y="1682425"/>
            <a:ext cx="1665452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Orchestration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6" name="Google Shape;508;p66">
            <a:extLst>
              <a:ext uri="{FF2B5EF4-FFF2-40B4-BE49-F238E27FC236}">
                <a16:creationId xmlns:a16="http://schemas.microsoft.com/office/drawing/2014/main" id="{D3C6173F-F4AD-5A37-7A6A-E039DA2A6F72}"/>
              </a:ext>
            </a:extLst>
          </p:cNvPr>
          <p:cNvSpPr/>
          <p:nvPr/>
        </p:nvSpPr>
        <p:spPr>
          <a:xfrm>
            <a:off x="6489157" y="2349817"/>
            <a:ext cx="4559444" cy="608640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7" name="Google Shape;509;p66">
            <a:extLst>
              <a:ext uri="{FF2B5EF4-FFF2-40B4-BE49-F238E27FC236}">
                <a16:creationId xmlns:a16="http://schemas.microsoft.com/office/drawing/2014/main" id="{1CB425C9-4082-A284-A70C-9646731FE27B}"/>
              </a:ext>
            </a:extLst>
          </p:cNvPr>
          <p:cNvSpPr/>
          <p:nvPr/>
        </p:nvSpPr>
        <p:spPr>
          <a:xfrm>
            <a:off x="6489156" y="3017212"/>
            <a:ext cx="4541989" cy="608640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8" name="Google Shape;510;p66">
            <a:extLst>
              <a:ext uri="{FF2B5EF4-FFF2-40B4-BE49-F238E27FC236}">
                <a16:creationId xmlns:a16="http://schemas.microsoft.com/office/drawing/2014/main" id="{E1B4F68D-5AA2-51C1-8434-467FAB2EA142}"/>
              </a:ext>
            </a:extLst>
          </p:cNvPr>
          <p:cNvSpPr/>
          <p:nvPr/>
        </p:nvSpPr>
        <p:spPr>
          <a:xfrm>
            <a:off x="6489156" y="3684608"/>
            <a:ext cx="4541989" cy="608640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9" name="Google Shape;511;p66">
            <a:extLst>
              <a:ext uri="{FF2B5EF4-FFF2-40B4-BE49-F238E27FC236}">
                <a16:creationId xmlns:a16="http://schemas.microsoft.com/office/drawing/2014/main" id="{5D79FDE0-669F-8E09-FAA4-C1515E754CE9}"/>
              </a:ext>
            </a:extLst>
          </p:cNvPr>
          <p:cNvSpPr/>
          <p:nvPr/>
        </p:nvSpPr>
        <p:spPr>
          <a:xfrm>
            <a:off x="6489156" y="4352003"/>
            <a:ext cx="4541989" cy="608640"/>
          </a:xfrm>
          <a:prstGeom prst="roundRect">
            <a:avLst>
              <a:gd name="adj" fmla="val 32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0" name="Google Shape;512;p66">
            <a:extLst>
              <a:ext uri="{FF2B5EF4-FFF2-40B4-BE49-F238E27FC236}">
                <a16:creationId xmlns:a16="http://schemas.microsoft.com/office/drawing/2014/main" id="{85B32E06-EEAE-1F63-D83E-6CAAFC883A74}"/>
              </a:ext>
            </a:extLst>
          </p:cNvPr>
          <p:cNvSpPr txBox="1"/>
          <p:nvPr/>
        </p:nvSpPr>
        <p:spPr>
          <a:xfrm>
            <a:off x="6588544" y="1682425"/>
            <a:ext cx="1928389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Delivery and Integration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1" name="Google Shape;513;p66">
            <a:extLst>
              <a:ext uri="{FF2B5EF4-FFF2-40B4-BE49-F238E27FC236}">
                <a16:creationId xmlns:a16="http://schemas.microsoft.com/office/drawing/2014/main" id="{4F88BCBA-66E5-FC1B-D9CA-E8D18AB85250}"/>
              </a:ext>
            </a:extLst>
          </p:cNvPr>
          <p:cNvSpPr txBox="1"/>
          <p:nvPr/>
        </p:nvSpPr>
        <p:spPr>
          <a:xfrm>
            <a:off x="6588544" y="2378058"/>
            <a:ext cx="1928389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Landing Zone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2" name="Google Shape;514;p66">
            <a:extLst>
              <a:ext uri="{FF2B5EF4-FFF2-40B4-BE49-F238E27FC236}">
                <a16:creationId xmlns:a16="http://schemas.microsoft.com/office/drawing/2014/main" id="{6378D9D7-9732-846C-5D74-42C0D3230D71}"/>
              </a:ext>
            </a:extLst>
          </p:cNvPr>
          <p:cNvSpPr txBox="1"/>
          <p:nvPr/>
        </p:nvSpPr>
        <p:spPr>
          <a:xfrm>
            <a:off x="6588544" y="3013358"/>
            <a:ext cx="1928389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Observability and FinOps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3" name="Google Shape;515;p66">
            <a:extLst>
              <a:ext uri="{FF2B5EF4-FFF2-40B4-BE49-F238E27FC236}">
                <a16:creationId xmlns:a16="http://schemas.microsoft.com/office/drawing/2014/main" id="{FFC22D35-EFD5-EED8-47CE-09AF404780F1}"/>
              </a:ext>
            </a:extLst>
          </p:cNvPr>
          <p:cNvSpPr txBox="1"/>
          <p:nvPr/>
        </p:nvSpPr>
        <p:spPr>
          <a:xfrm>
            <a:off x="6588545" y="3679331"/>
            <a:ext cx="2771356" cy="28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Governance, Policy and Compliance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4" name="Google Shape;516;p66">
            <a:extLst>
              <a:ext uri="{FF2B5EF4-FFF2-40B4-BE49-F238E27FC236}">
                <a16:creationId xmlns:a16="http://schemas.microsoft.com/office/drawing/2014/main" id="{9F0507EB-D930-6481-7ABE-C42686CE63A1}"/>
              </a:ext>
            </a:extLst>
          </p:cNvPr>
          <p:cNvSpPr txBox="1"/>
          <p:nvPr/>
        </p:nvSpPr>
        <p:spPr>
          <a:xfrm>
            <a:off x="2082593" y="3196039"/>
            <a:ext cx="662691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Request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5" name="Google Shape;517;p66">
            <a:extLst>
              <a:ext uri="{FF2B5EF4-FFF2-40B4-BE49-F238E27FC236}">
                <a16:creationId xmlns:a16="http://schemas.microsoft.com/office/drawing/2014/main" id="{A1C66F57-A61D-6CCE-E692-BD324C03664C}"/>
              </a:ext>
            </a:extLst>
          </p:cNvPr>
          <p:cNvSpPr/>
          <p:nvPr/>
        </p:nvSpPr>
        <p:spPr>
          <a:xfrm rot="10800000">
            <a:off x="2213168" y="3665481"/>
            <a:ext cx="412704" cy="626939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1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6" name="Google Shape;518;p66">
            <a:extLst>
              <a:ext uri="{FF2B5EF4-FFF2-40B4-BE49-F238E27FC236}">
                <a16:creationId xmlns:a16="http://schemas.microsoft.com/office/drawing/2014/main" id="{D8C9908A-4F0E-0A09-5A05-DC3E0F121009}"/>
              </a:ext>
            </a:extLst>
          </p:cNvPr>
          <p:cNvSpPr txBox="1"/>
          <p:nvPr/>
        </p:nvSpPr>
        <p:spPr>
          <a:xfrm>
            <a:off x="2095660" y="3430755"/>
            <a:ext cx="662691" cy="20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Response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7" name="Google Shape;519;p66">
            <a:extLst>
              <a:ext uri="{FF2B5EF4-FFF2-40B4-BE49-F238E27FC236}">
                <a16:creationId xmlns:a16="http://schemas.microsoft.com/office/drawing/2014/main" id="{9A62310B-213D-0923-AF33-5C0E5227F5FF}"/>
              </a:ext>
            </a:extLst>
          </p:cNvPr>
          <p:cNvSpPr/>
          <p:nvPr/>
        </p:nvSpPr>
        <p:spPr>
          <a:xfrm>
            <a:off x="933226" y="2037002"/>
            <a:ext cx="1026973" cy="941393"/>
          </a:xfrm>
          <a:prstGeom prst="roundRect">
            <a:avLst>
              <a:gd name="adj" fmla="val 3279"/>
            </a:avLst>
          </a:prstGeom>
          <a:noFill/>
          <a:ln w="1270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Google Shape;520;p66">
            <a:extLst>
              <a:ext uri="{FF2B5EF4-FFF2-40B4-BE49-F238E27FC236}">
                <a16:creationId xmlns:a16="http://schemas.microsoft.com/office/drawing/2014/main" id="{B17E0CF6-7C35-8981-61A1-B59EA675360E}"/>
              </a:ext>
            </a:extLst>
          </p:cNvPr>
          <p:cNvSpPr txBox="1"/>
          <p:nvPr/>
        </p:nvSpPr>
        <p:spPr>
          <a:xfrm>
            <a:off x="933227" y="2064795"/>
            <a:ext cx="1026973" cy="15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Finastra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9" name="Google Shape;521;p66">
            <a:extLst>
              <a:ext uri="{FF2B5EF4-FFF2-40B4-BE49-F238E27FC236}">
                <a16:creationId xmlns:a16="http://schemas.microsoft.com/office/drawing/2014/main" id="{031FD846-4150-469F-C2A8-1A8C3339624E}"/>
              </a:ext>
            </a:extLst>
          </p:cNvPr>
          <p:cNvSpPr txBox="1"/>
          <p:nvPr/>
        </p:nvSpPr>
        <p:spPr>
          <a:xfrm>
            <a:off x="1058595" y="2247541"/>
            <a:ext cx="776141" cy="24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Lending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0" name="Google Shape;522;p66">
            <a:extLst>
              <a:ext uri="{FF2B5EF4-FFF2-40B4-BE49-F238E27FC236}">
                <a16:creationId xmlns:a16="http://schemas.microsoft.com/office/drawing/2014/main" id="{8118BAD5-B2A3-0086-2621-D50384336C2C}"/>
              </a:ext>
            </a:extLst>
          </p:cNvPr>
          <p:cNvSpPr txBox="1"/>
          <p:nvPr/>
        </p:nvSpPr>
        <p:spPr>
          <a:xfrm>
            <a:off x="1058595" y="2490355"/>
            <a:ext cx="776141" cy="24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Payments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1" name="Google Shape;523;p66">
            <a:extLst>
              <a:ext uri="{FF2B5EF4-FFF2-40B4-BE49-F238E27FC236}">
                <a16:creationId xmlns:a16="http://schemas.microsoft.com/office/drawing/2014/main" id="{B380F914-77F7-4B75-0E3E-E91E7268FFA6}"/>
              </a:ext>
            </a:extLst>
          </p:cNvPr>
          <p:cNvSpPr txBox="1"/>
          <p:nvPr/>
        </p:nvSpPr>
        <p:spPr>
          <a:xfrm>
            <a:off x="995830" y="2727846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Universal Banking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2" name="Google Shape;524;p66">
            <a:extLst>
              <a:ext uri="{FF2B5EF4-FFF2-40B4-BE49-F238E27FC236}">
                <a16:creationId xmlns:a16="http://schemas.microsoft.com/office/drawing/2014/main" id="{012BFEA2-A6E5-011B-4688-E8B9E480718E}"/>
              </a:ext>
            </a:extLst>
          </p:cNvPr>
          <p:cNvSpPr txBox="1"/>
          <p:nvPr/>
        </p:nvSpPr>
        <p:spPr>
          <a:xfrm>
            <a:off x="995830" y="3289533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Fintech Partner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3" name="Google Shape;525;p66">
            <a:extLst>
              <a:ext uri="{FF2B5EF4-FFF2-40B4-BE49-F238E27FC236}">
                <a16:creationId xmlns:a16="http://schemas.microsoft.com/office/drawing/2014/main" id="{68B10CC9-9990-49DC-335A-9729A73DCE7B}"/>
              </a:ext>
            </a:extLst>
          </p:cNvPr>
          <p:cNvSpPr/>
          <p:nvPr/>
        </p:nvSpPr>
        <p:spPr>
          <a:xfrm>
            <a:off x="933238" y="3032017"/>
            <a:ext cx="1026973" cy="1073424"/>
          </a:xfrm>
          <a:prstGeom prst="roundRect">
            <a:avLst>
              <a:gd name="adj" fmla="val 3279"/>
            </a:avLst>
          </a:prstGeom>
          <a:noFill/>
          <a:ln w="1270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4" name="Google Shape;526;p66">
            <a:extLst>
              <a:ext uri="{FF2B5EF4-FFF2-40B4-BE49-F238E27FC236}">
                <a16:creationId xmlns:a16="http://schemas.microsoft.com/office/drawing/2014/main" id="{CE8EB1C9-9396-C5D6-8667-A99BE3B1A90F}"/>
              </a:ext>
            </a:extLst>
          </p:cNvPr>
          <p:cNvSpPr txBox="1"/>
          <p:nvPr/>
        </p:nvSpPr>
        <p:spPr>
          <a:xfrm>
            <a:off x="933227" y="3059821"/>
            <a:ext cx="1026973" cy="15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External Partners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5" name="Google Shape;527;p66">
            <a:extLst>
              <a:ext uri="{FF2B5EF4-FFF2-40B4-BE49-F238E27FC236}">
                <a16:creationId xmlns:a16="http://schemas.microsoft.com/office/drawing/2014/main" id="{37EE4038-6C45-A705-DAB0-056ADCFC31B7}"/>
              </a:ext>
            </a:extLst>
          </p:cNvPr>
          <p:cNvSpPr/>
          <p:nvPr/>
        </p:nvSpPr>
        <p:spPr>
          <a:xfrm>
            <a:off x="933226" y="4181395"/>
            <a:ext cx="1026973" cy="980524"/>
          </a:xfrm>
          <a:prstGeom prst="roundRect">
            <a:avLst>
              <a:gd name="adj" fmla="val 3279"/>
            </a:avLst>
          </a:prstGeom>
          <a:noFill/>
          <a:ln w="1270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6" name="Google Shape;528;p66">
            <a:extLst>
              <a:ext uri="{FF2B5EF4-FFF2-40B4-BE49-F238E27FC236}">
                <a16:creationId xmlns:a16="http://schemas.microsoft.com/office/drawing/2014/main" id="{8B46948B-FF8E-59DF-A1D7-BD35822F889F}"/>
              </a:ext>
            </a:extLst>
          </p:cNvPr>
          <p:cNvSpPr txBox="1"/>
          <p:nvPr/>
        </p:nvSpPr>
        <p:spPr>
          <a:xfrm>
            <a:off x="933227" y="4209189"/>
            <a:ext cx="1026973" cy="15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Customers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7" name="Google Shape;529;p66">
            <a:extLst>
              <a:ext uri="{FF2B5EF4-FFF2-40B4-BE49-F238E27FC236}">
                <a16:creationId xmlns:a16="http://schemas.microsoft.com/office/drawing/2014/main" id="{9419300A-6903-B0B9-6332-2E3C5A26C955}"/>
              </a:ext>
            </a:extLst>
          </p:cNvPr>
          <p:cNvSpPr txBox="1"/>
          <p:nvPr/>
        </p:nvSpPr>
        <p:spPr>
          <a:xfrm>
            <a:off x="995830" y="4418111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Global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8" name="Google Shape;530;p66">
            <a:extLst>
              <a:ext uri="{FF2B5EF4-FFF2-40B4-BE49-F238E27FC236}">
                <a16:creationId xmlns:a16="http://schemas.microsoft.com/office/drawing/2014/main" id="{857A535B-C852-1BD0-87EE-DF2E6C821007}"/>
              </a:ext>
            </a:extLst>
          </p:cNvPr>
          <p:cNvSpPr txBox="1"/>
          <p:nvPr/>
        </p:nvSpPr>
        <p:spPr>
          <a:xfrm>
            <a:off x="995830" y="4619833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National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9" name="Google Shape;531;p66">
            <a:extLst>
              <a:ext uri="{FF2B5EF4-FFF2-40B4-BE49-F238E27FC236}">
                <a16:creationId xmlns:a16="http://schemas.microsoft.com/office/drawing/2014/main" id="{81CABE47-C83A-97BA-2DEB-8203FB477F4B}"/>
              </a:ext>
            </a:extLst>
          </p:cNvPr>
          <p:cNvSpPr txBox="1"/>
          <p:nvPr/>
        </p:nvSpPr>
        <p:spPr>
          <a:xfrm>
            <a:off x="990478" y="4802805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Regional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0" name="Google Shape;532;p66">
            <a:extLst>
              <a:ext uri="{FF2B5EF4-FFF2-40B4-BE49-F238E27FC236}">
                <a16:creationId xmlns:a16="http://schemas.microsoft.com/office/drawing/2014/main" id="{FB0016EF-1106-37C6-3C3D-6EC7CF410A34}"/>
              </a:ext>
            </a:extLst>
          </p:cNvPr>
          <p:cNvSpPr txBox="1"/>
          <p:nvPr/>
        </p:nvSpPr>
        <p:spPr>
          <a:xfrm>
            <a:off x="985128" y="4976019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Community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1" name="Google Shape;533;p66">
            <a:extLst>
              <a:ext uri="{FF2B5EF4-FFF2-40B4-BE49-F238E27FC236}">
                <a16:creationId xmlns:a16="http://schemas.microsoft.com/office/drawing/2014/main" id="{33D8628D-0FC6-BE1C-51D7-EDE61172EEA8}"/>
              </a:ext>
            </a:extLst>
          </p:cNvPr>
          <p:cNvSpPr txBox="1"/>
          <p:nvPr/>
        </p:nvSpPr>
        <p:spPr>
          <a:xfrm>
            <a:off x="6588557" y="4352026"/>
            <a:ext cx="2218352" cy="24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AI Lab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2" name="Google Shape;534;p66">
            <a:extLst>
              <a:ext uri="{FF2B5EF4-FFF2-40B4-BE49-F238E27FC236}">
                <a16:creationId xmlns:a16="http://schemas.microsoft.com/office/drawing/2014/main" id="{1F2F88B0-E0A9-FF5F-5FD3-173304D8E6E8}"/>
              </a:ext>
            </a:extLst>
          </p:cNvPr>
          <p:cNvSpPr txBox="1"/>
          <p:nvPr/>
        </p:nvSpPr>
        <p:spPr>
          <a:xfrm>
            <a:off x="2893790" y="5087156"/>
            <a:ext cx="1665452" cy="41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137A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Guiding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C137A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137A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Principles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C137A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3" name="Google Shape;535;p66">
            <a:extLst>
              <a:ext uri="{FF2B5EF4-FFF2-40B4-BE49-F238E27FC236}">
                <a16:creationId xmlns:a16="http://schemas.microsoft.com/office/drawing/2014/main" id="{8EDF5914-2555-FF00-BC7F-1703D750FA4E}"/>
              </a:ext>
            </a:extLst>
          </p:cNvPr>
          <p:cNvSpPr txBox="1"/>
          <p:nvPr/>
        </p:nvSpPr>
        <p:spPr>
          <a:xfrm>
            <a:off x="3873256" y="5510927"/>
            <a:ext cx="776141" cy="4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Cloud Agnostic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44" name="Google Shape;536;p66">
            <a:extLst>
              <a:ext uri="{FF2B5EF4-FFF2-40B4-BE49-F238E27FC236}">
                <a16:creationId xmlns:a16="http://schemas.microsoft.com/office/drawing/2014/main" id="{CE17B90C-C62A-827F-4C24-6FF9D519C2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7020" y="5225057"/>
            <a:ext cx="308613" cy="308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537;p66">
            <a:extLst>
              <a:ext uri="{FF2B5EF4-FFF2-40B4-BE49-F238E27FC236}">
                <a16:creationId xmlns:a16="http://schemas.microsoft.com/office/drawing/2014/main" id="{D03F42EB-A00A-2701-26ED-3FE34C4A9512}"/>
              </a:ext>
            </a:extLst>
          </p:cNvPr>
          <p:cNvSpPr txBox="1"/>
          <p:nvPr/>
        </p:nvSpPr>
        <p:spPr>
          <a:xfrm>
            <a:off x="5168648" y="5510928"/>
            <a:ext cx="1257008" cy="41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Global Guardrails,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Local Autonomy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46" name="Google Shape;538;p66">
            <a:extLst>
              <a:ext uri="{FF2B5EF4-FFF2-40B4-BE49-F238E27FC236}">
                <a16:creationId xmlns:a16="http://schemas.microsoft.com/office/drawing/2014/main" id="{2C8D5322-DC89-3571-ADC1-20DEDDB594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9175" y="5224767"/>
            <a:ext cx="308903" cy="30890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539;p66">
            <a:extLst>
              <a:ext uri="{FF2B5EF4-FFF2-40B4-BE49-F238E27FC236}">
                <a16:creationId xmlns:a16="http://schemas.microsoft.com/office/drawing/2014/main" id="{716FC724-7D61-591D-FBCF-D7CD253A0ABC}"/>
              </a:ext>
            </a:extLst>
          </p:cNvPr>
          <p:cNvSpPr txBox="1"/>
          <p:nvPr/>
        </p:nvSpPr>
        <p:spPr>
          <a:xfrm>
            <a:off x="6895006" y="5510927"/>
            <a:ext cx="1060359" cy="4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FO and FFDC Extensions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48" name="Google Shape;540;p66">
            <a:extLst>
              <a:ext uri="{FF2B5EF4-FFF2-40B4-BE49-F238E27FC236}">
                <a16:creationId xmlns:a16="http://schemas.microsoft.com/office/drawing/2014/main" id="{7BD0CDC3-2229-3DCF-C87A-18C3B025C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3109" y="5224767"/>
            <a:ext cx="308903" cy="30890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541;p66">
            <a:extLst>
              <a:ext uri="{FF2B5EF4-FFF2-40B4-BE49-F238E27FC236}">
                <a16:creationId xmlns:a16="http://schemas.microsoft.com/office/drawing/2014/main" id="{F356BEE1-F471-6667-56B5-4786B0B880F9}"/>
              </a:ext>
            </a:extLst>
          </p:cNvPr>
          <p:cNvSpPr txBox="1"/>
          <p:nvPr/>
        </p:nvSpPr>
        <p:spPr>
          <a:xfrm>
            <a:off x="9815365" y="5510917"/>
            <a:ext cx="1284124" cy="4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Marketplace 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Driven Experience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50" name="Google Shape;542;p66">
            <a:extLst>
              <a:ext uri="{FF2B5EF4-FFF2-40B4-BE49-F238E27FC236}">
                <a16:creationId xmlns:a16="http://schemas.microsoft.com/office/drawing/2014/main" id="{5A9EE9EE-29ED-B3E5-134C-A77F7E2F59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80859" y="5224767"/>
            <a:ext cx="308903" cy="30890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43;p66">
            <a:extLst>
              <a:ext uri="{FF2B5EF4-FFF2-40B4-BE49-F238E27FC236}">
                <a16:creationId xmlns:a16="http://schemas.microsoft.com/office/drawing/2014/main" id="{4E502DAD-9987-B9F2-1423-9AF175BB02D7}"/>
              </a:ext>
            </a:extLst>
          </p:cNvPr>
          <p:cNvSpPr txBox="1"/>
          <p:nvPr/>
        </p:nvSpPr>
        <p:spPr>
          <a:xfrm>
            <a:off x="8274542" y="5510917"/>
            <a:ext cx="1340489" cy="4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Multi-Sided Ecosystem Growth</a:t>
            </a: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52" name="Google Shape;544;p66">
            <a:extLst>
              <a:ext uri="{FF2B5EF4-FFF2-40B4-BE49-F238E27FC236}">
                <a16:creationId xmlns:a16="http://schemas.microsoft.com/office/drawing/2014/main" id="{A694C59B-C36A-BE8A-A65F-AD54B4D5ACC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81993" y="5224767"/>
            <a:ext cx="308903" cy="30890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45;p66">
            <a:extLst>
              <a:ext uri="{FF2B5EF4-FFF2-40B4-BE49-F238E27FC236}">
                <a16:creationId xmlns:a16="http://schemas.microsoft.com/office/drawing/2014/main" id="{D8ABDFD6-77E5-9454-2FC2-4441DCA5E2D6}"/>
              </a:ext>
            </a:extLst>
          </p:cNvPr>
          <p:cNvSpPr/>
          <p:nvPr/>
        </p:nvSpPr>
        <p:spPr>
          <a:xfrm>
            <a:off x="3067088" y="1927414"/>
            <a:ext cx="692249" cy="2430900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Developer Portal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4" name="Google Shape;546;p66">
            <a:extLst>
              <a:ext uri="{FF2B5EF4-FFF2-40B4-BE49-F238E27FC236}">
                <a16:creationId xmlns:a16="http://schemas.microsoft.com/office/drawing/2014/main" id="{962EBCB5-5C3F-053D-47B0-1C87B4F4F953}"/>
              </a:ext>
            </a:extLst>
          </p:cNvPr>
          <p:cNvSpPr/>
          <p:nvPr/>
        </p:nvSpPr>
        <p:spPr>
          <a:xfrm>
            <a:off x="3875978" y="1927414"/>
            <a:ext cx="692249" cy="2430900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Services Catalog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5" name="Google Shape;547;p66">
            <a:extLst>
              <a:ext uri="{FF2B5EF4-FFF2-40B4-BE49-F238E27FC236}">
                <a16:creationId xmlns:a16="http://schemas.microsoft.com/office/drawing/2014/main" id="{7EA3C9E6-1897-CF7A-81F1-BED253DFABC1}"/>
              </a:ext>
            </a:extLst>
          </p:cNvPr>
          <p:cNvSpPr/>
          <p:nvPr/>
        </p:nvSpPr>
        <p:spPr>
          <a:xfrm>
            <a:off x="3112395" y="4462624"/>
            <a:ext cx="3240820" cy="41580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One-Stop Platform Provisioning</a:t>
            </a:r>
            <a:endParaRPr kumimoji="0" sz="667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6" name="Google Shape;548;p66">
            <a:extLst>
              <a:ext uri="{FF2B5EF4-FFF2-40B4-BE49-F238E27FC236}">
                <a16:creationId xmlns:a16="http://schemas.microsoft.com/office/drawing/2014/main" id="{3561DCF3-3532-8CBD-216B-E9D30959BA3C}"/>
              </a:ext>
            </a:extLst>
          </p:cNvPr>
          <p:cNvSpPr/>
          <p:nvPr/>
        </p:nvSpPr>
        <p:spPr>
          <a:xfrm>
            <a:off x="4830718" y="1927414"/>
            <a:ext cx="1477117" cy="41580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Developer Portal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Access Controls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7" name="Google Shape;549;p66">
            <a:extLst>
              <a:ext uri="{FF2B5EF4-FFF2-40B4-BE49-F238E27FC236}">
                <a16:creationId xmlns:a16="http://schemas.microsoft.com/office/drawing/2014/main" id="{7A31A179-1C38-6272-5E97-7A70190FB436}"/>
              </a:ext>
            </a:extLst>
          </p:cNvPr>
          <p:cNvSpPr txBox="1"/>
          <p:nvPr/>
        </p:nvSpPr>
        <p:spPr>
          <a:xfrm>
            <a:off x="995830" y="3530958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Implementation  Partner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8" name="Google Shape;550;p66">
            <a:extLst>
              <a:ext uri="{FF2B5EF4-FFF2-40B4-BE49-F238E27FC236}">
                <a16:creationId xmlns:a16="http://schemas.microsoft.com/office/drawing/2014/main" id="{D4DD02F1-BB1D-05B1-C588-093D13E23447}"/>
              </a:ext>
            </a:extLst>
          </p:cNvPr>
          <p:cNvSpPr txBox="1"/>
          <p:nvPr/>
        </p:nvSpPr>
        <p:spPr>
          <a:xfrm>
            <a:off x="995830" y="3870069"/>
            <a:ext cx="901697" cy="2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API Provider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9" name="Google Shape;551;p66">
            <a:extLst>
              <a:ext uri="{FF2B5EF4-FFF2-40B4-BE49-F238E27FC236}">
                <a16:creationId xmlns:a16="http://schemas.microsoft.com/office/drawing/2014/main" id="{86086C8C-0861-A0EB-84CE-393E480FB302}"/>
              </a:ext>
            </a:extLst>
          </p:cNvPr>
          <p:cNvSpPr/>
          <p:nvPr/>
        </p:nvSpPr>
        <p:spPr>
          <a:xfrm>
            <a:off x="4947520" y="2813718"/>
            <a:ext cx="1260913" cy="41580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Services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Coordination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0" name="Google Shape;552;p66">
            <a:extLst>
              <a:ext uri="{FF2B5EF4-FFF2-40B4-BE49-F238E27FC236}">
                <a16:creationId xmlns:a16="http://schemas.microsoft.com/office/drawing/2014/main" id="{3EC7E304-DACA-7DE3-EE2C-58F48A1DF57A}"/>
              </a:ext>
            </a:extLst>
          </p:cNvPr>
          <p:cNvSpPr/>
          <p:nvPr/>
        </p:nvSpPr>
        <p:spPr>
          <a:xfrm>
            <a:off x="4947520" y="3317468"/>
            <a:ext cx="1260913" cy="41580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Partner Integration Orchestration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1" name="Google Shape;553;p66">
            <a:extLst>
              <a:ext uri="{FF2B5EF4-FFF2-40B4-BE49-F238E27FC236}">
                <a16:creationId xmlns:a16="http://schemas.microsoft.com/office/drawing/2014/main" id="{30BDAD4A-3B05-6771-7530-0B9DF2E93EFD}"/>
              </a:ext>
            </a:extLst>
          </p:cNvPr>
          <p:cNvSpPr/>
          <p:nvPr/>
        </p:nvSpPr>
        <p:spPr>
          <a:xfrm>
            <a:off x="4827152" y="3942401"/>
            <a:ext cx="1477117" cy="41580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Services Lifecycle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Management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2" name="Google Shape;554;p66">
            <a:extLst>
              <a:ext uri="{FF2B5EF4-FFF2-40B4-BE49-F238E27FC236}">
                <a16:creationId xmlns:a16="http://schemas.microsoft.com/office/drawing/2014/main" id="{69B1BAFF-FFAE-1B3A-FB5E-E7972BED6F7E}"/>
              </a:ext>
            </a:extLst>
          </p:cNvPr>
          <p:cNvSpPr/>
          <p:nvPr/>
        </p:nvSpPr>
        <p:spPr>
          <a:xfrm>
            <a:off x="6536016" y="19236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Standardized CI/CD and GitOps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3" name="Google Shape;555;p66">
            <a:extLst>
              <a:ext uri="{FF2B5EF4-FFF2-40B4-BE49-F238E27FC236}">
                <a16:creationId xmlns:a16="http://schemas.microsoft.com/office/drawing/2014/main" id="{C73211C0-1E3A-111E-E994-7887371E0D17}"/>
              </a:ext>
            </a:extLst>
          </p:cNvPr>
          <p:cNvSpPr/>
          <p:nvPr/>
        </p:nvSpPr>
        <p:spPr>
          <a:xfrm>
            <a:off x="7664136" y="19236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Secure Image and Artifact Management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4" name="Google Shape;556;p66">
            <a:extLst>
              <a:ext uri="{FF2B5EF4-FFF2-40B4-BE49-F238E27FC236}">
                <a16:creationId xmlns:a16="http://schemas.microsoft.com/office/drawing/2014/main" id="{1CB910D7-6746-6A46-BC37-E730FCC579EC}"/>
              </a:ext>
            </a:extLst>
          </p:cNvPr>
          <p:cNvSpPr/>
          <p:nvPr/>
        </p:nvSpPr>
        <p:spPr>
          <a:xfrm>
            <a:off x="8792250" y="19236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Automated Testing Services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5" name="Google Shape;557;p66">
            <a:extLst>
              <a:ext uri="{FF2B5EF4-FFF2-40B4-BE49-F238E27FC236}">
                <a16:creationId xmlns:a16="http://schemas.microsoft.com/office/drawing/2014/main" id="{7F136A4D-F7CC-EDF5-6766-B49B93848B7F}"/>
              </a:ext>
            </a:extLst>
          </p:cNvPr>
          <p:cNvSpPr/>
          <p:nvPr/>
        </p:nvSpPr>
        <p:spPr>
          <a:xfrm>
            <a:off x="9920383" y="19236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Event &amp; Infrastructure Integration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6" name="Google Shape;558;p66">
            <a:extLst>
              <a:ext uri="{FF2B5EF4-FFF2-40B4-BE49-F238E27FC236}">
                <a16:creationId xmlns:a16="http://schemas.microsoft.com/office/drawing/2014/main" id="{BBA3A7F4-8195-5147-17C5-8AB582C88D5A}"/>
              </a:ext>
            </a:extLst>
          </p:cNvPr>
          <p:cNvSpPr/>
          <p:nvPr/>
        </p:nvSpPr>
        <p:spPr>
          <a:xfrm>
            <a:off x="6536016" y="2600728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Cloud-Native Networking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7" name="Google Shape;559;p66">
            <a:extLst>
              <a:ext uri="{FF2B5EF4-FFF2-40B4-BE49-F238E27FC236}">
                <a16:creationId xmlns:a16="http://schemas.microsoft.com/office/drawing/2014/main" id="{466C488D-D4B9-C1F4-313A-2A3AF66166CA}"/>
              </a:ext>
            </a:extLst>
          </p:cNvPr>
          <p:cNvSpPr/>
          <p:nvPr/>
        </p:nvSpPr>
        <p:spPr>
          <a:xfrm>
            <a:off x="7664136" y="2600728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Identity, Access, and Secrets Management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8" name="Google Shape;560;p66">
            <a:extLst>
              <a:ext uri="{FF2B5EF4-FFF2-40B4-BE49-F238E27FC236}">
                <a16:creationId xmlns:a16="http://schemas.microsoft.com/office/drawing/2014/main" id="{AAAB6196-2D99-489C-4BB8-0B5E5A8D20CF}"/>
              </a:ext>
            </a:extLst>
          </p:cNvPr>
          <p:cNvSpPr/>
          <p:nvPr/>
        </p:nvSpPr>
        <p:spPr>
          <a:xfrm>
            <a:off x="8792250" y="2600728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Policy-as-Code Security Enforcement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9" name="Google Shape;561;p66">
            <a:extLst>
              <a:ext uri="{FF2B5EF4-FFF2-40B4-BE49-F238E27FC236}">
                <a16:creationId xmlns:a16="http://schemas.microsoft.com/office/drawing/2014/main" id="{6FE75874-D5C2-87D0-E9FC-CB048AF3404A}"/>
              </a:ext>
            </a:extLst>
          </p:cNvPr>
          <p:cNvSpPr/>
          <p:nvPr/>
        </p:nvSpPr>
        <p:spPr>
          <a:xfrm>
            <a:off x="9920383" y="2600728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Runtime Protection &amp; Platform Hardening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0" name="Google Shape;562;p66">
            <a:extLst>
              <a:ext uri="{FF2B5EF4-FFF2-40B4-BE49-F238E27FC236}">
                <a16:creationId xmlns:a16="http://schemas.microsoft.com/office/drawing/2014/main" id="{4E0BCF0C-AB52-07E6-5464-DD3A4C9E420C}"/>
              </a:ext>
            </a:extLst>
          </p:cNvPr>
          <p:cNvSpPr/>
          <p:nvPr/>
        </p:nvSpPr>
        <p:spPr>
          <a:xfrm>
            <a:off x="6536016" y="3239112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Unified Telemetry (Metric, Logs, Traces)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1" name="Google Shape;563;p66">
            <a:extLst>
              <a:ext uri="{FF2B5EF4-FFF2-40B4-BE49-F238E27FC236}">
                <a16:creationId xmlns:a16="http://schemas.microsoft.com/office/drawing/2014/main" id="{20F3E7BE-DE1C-EBEB-4F0E-E88E5BCCF0BA}"/>
              </a:ext>
            </a:extLst>
          </p:cNvPr>
          <p:cNvSpPr/>
          <p:nvPr/>
        </p:nvSpPr>
        <p:spPr>
          <a:xfrm>
            <a:off x="7664136" y="3239112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BU Dashboards &amp; Reliability Monitoring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2" name="Google Shape;564;p66">
            <a:extLst>
              <a:ext uri="{FF2B5EF4-FFF2-40B4-BE49-F238E27FC236}">
                <a16:creationId xmlns:a16="http://schemas.microsoft.com/office/drawing/2014/main" id="{CE024135-9992-41B6-B7D9-DA6F69EBB029}"/>
              </a:ext>
            </a:extLst>
          </p:cNvPr>
          <p:cNvSpPr/>
          <p:nvPr/>
        </p:nvSpPr>
        <p:spPr>
          <a:xfrm>
            <a:off x="8792250" y="3239112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Centralized Alerting &amp; Incident Response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3" name="Google Shape;565;p66">
            <a:extLst>
              <a:ext uri="{FF2B5EF4-FFF2-40B4-BE49-F238E27FC236}">
                <a16:creationId xmlns:a16="http://schemas.microsoft.com/office/drawing/2014/main" id="{0234E358-9895-9470-F83A-7ED2492628D6}"/>
              </a:ext>
            </a:extLst>
          </p:cNvPr>
          <p:cNvSpPr/>
          <p:nvPr/>
        </p:nvSpPr>
        <p:spPr>
          <a:xfrm>
            <a:off x="9920383" y="3239112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Cost Transparency &amp; FinOps Optimization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4" name="Google Shape;566;p66">
            <a:extLst>
              <a:ext uri="{FF2B5EF4-FFF2-40B4-BE49-F238E27FC236}">
                <a16:creationId xmlns:a16="http://schemas.microsoft.com/office/drawing/2014/main" id="{A5FB9680-0CC4-9D23-75FE-2C5127E560C1}"/>
              </a:ext>
            </a:extLst>
          </p:cNvPr>
          <p:cNvSpPr/>
          <p:nvPr/>
        </p:nvSpPr>
        <p:spPr>
          <a:xfrm>
            <a:off x="6536016" y="38981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Policy-as-Code Governance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5" name="Google Shape;567;p66">
            <a:extLst>
              <a:ext uri="{FF2B5EF4-FFF2-40B4-BE49-F238E27FC236}">
                <a16:creationId xmlns:a16="http://schemas.microsoft.com/office/drawing/2014/main" id="{B04DBDF2-A48E-CBBB-817A-91D6DE412064}"/>
              </a:ext>
            </a:extLst>
          </p:cNvPr>
          <p:cNvSpPr/>
          <p:nvPr/>
        </p:nvSpPr>
        <p:spPr>
          <a:xfrm>
            <a:off x="7664136" y="38981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Compliance Automation &amp; Audit 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6" name="Google Shape;568;p66">
            <a:extLst>
              <a:ext uri="{FF2B5EF4-FFF2-40B4-BE49-F238E27FC236}">
                <a16:creationId xmlns:a16="http://schemas.microsoft.com/office/drawing/2014/main" id="{A173F97A-2978-E0D7-176B-164BE67FAB55}"/>
              </a:ext>
            </a:extLst>
          </p:cNvPr>
          <p:cNvSpPr/>
          <p:nvPr/>
        </p:nvSpPr>
        <p:spPr>
          <a:xfrm>
            <a:off x="8792250" y="38981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Change Control &amp; Governance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7" name="Google Shape;569;p66">
            <a:extLst>
              <a:ext uri="{FF2B5EF4-FFF2-40B4-BE49-F238E27FC236}">
                <a16:creationId xmlns:a16="http://schemas.microsoft.com/office/drawing/2014/main" id="{28AB08AD-C498-2332-4242-4B5217C4FB6A}"/>
              </a:ext>
            </a:extLst>
          </p:cNvPr>
          <p:cNvSpPr/>
          <p:nvPr/>
        </p:nvSpPr>
        <p:spPr>
          <a:xfrm>
            <a:off x="9920383" y="3898184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Configuration &amp; Drift Management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8" name="Google Shape;570;p66">
            <a:extLst>
              <a:ext uri="{FF2B5EF4-FFF2-40B4-BE49-F238E27FC236}">
                <a16:creationId xmlns:a16="http://schemas.microsoft.com/office/drawing/2014/main" id="{18F123B9-FAAB-5B08-FB2A-1A2F39A987D7}"/>
              </a:ext>
            </a:extLst>
          </p:cNvPr>
          <p:cNvSpPr/>
          <p:nvPr/>
        </p:nvSpPr>
        <p:spPr>
          <a:xfrm>
            <a:off x="6536016" y="4581800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Developer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Productivity Assistants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9" name="Google Shape;571;p66">
            <a:extLst>
              <a:ext uri="{FF2B5EF4-FFF2-40B4-BE49-F238E27FC236}">
                <a16:creationId xmlns:a16="http://schemas.microsoft.com/office/drawing/2014/main" id="{CC789B3E-4181-FC8A-0790-712A98C8A77F}"/>
              </a:ext>
            </a:extLst>
          </p:cNvPr>
          <p:cNvSpPr/>
          <p:nvPr/>
        </p:nvSpPr>
        <p:spPr>
          <a:xfrm>
            <a:off x="7664136" y="4581800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Business Self-Service AI Development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0" name="Google Shape;572;p66">
            <a:extLst>
              <a:ext uri="{FF2B5EF4-FFF2-40B4-BE49-F238E27FC236}">
                <a16:creationId xmlns:a16="http://schemas.microsoft.com/office/drawing/2014/main" id="{9B85733B-AF3A-635D-8E73-0A461FA3A292}"/>
              </a:ext>
            </a:extLst>
          </p:cNvPr>
          <p:cNvSpPr/>
          <p:nvPr/>
        </p:nvSpPr>
        <p:spPr>
          <a:xfrm>
            <a:off x="8792250" y="4581800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Developer Self-Service AI Development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1" name="Google Shape;573;p66">
            <a:extLst>
              <a:ext uri="{FF2B5EF4-FFF2-40B4-BE49-F238E27FC236}">
                <a16:creationId xmlns:a16="http://schemas.microsoft.com/office/drawing/2014/main" id="{F2C205DC-580C-E795-1809-FD2CA9348040}"/>
              </a:ext>
            </a:extLst>
          </p:cNvPr>
          <p:cNvSpPr/>
          <p:nvPr/>
        </p:nvSpPr>
        <p:spPr>
          <a:xfrm>
            <a:off x="9920383" y="4581800"/>
            <a:ext cx="1083557" cy="308824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AI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Marketplace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2" name="Google Shape;574;p66">
            <a:extLst>
              <a:ext uri="{FF2B5EF4-FFF2-40B4-BE49-F238E27FC236}">
                <a16:creationId xmlns:a16="http://schemas.microsoft.com/office/drawing/2014/main" id="{3BDDD8FF-D410-C329-0B71-7FC2767D989E}"/>
              </a:ext>
            </a:extLst>
          </p:cNvPr>
          <p:cNvSpPr/>
          <p:nvPr/>
        </p:nvSpPr>
        <p:spPr>
          <a:xfrm>
            <a:off x="4830695" y="2431161"/>
            <a:ext cx="1477117" cy="1438833"/>
          </a:xfrm>
          <a:prstGeom prst="roundRect">
            <a:avLst>
              <a:gd name="adj" fmla="val 3995"/>
            </a:avLst>
          </a:prstGeom>
          <a:noFill/>
          <a:ln w="1270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Platform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Integration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3" name="Google Shape;575;p66">
            <a:extLst>
              <a:ext uri="{FF2B5EF4-FFF2-40B4-BE49-F238E27FC236}">
                <a16:creationId xmlns:a16="http://schemas.microsoft.com/office/drawing/2014/main" id="{BDF86F4E-79D4-5BF6-65CF-6C324178B912}"/>
              </a:ext>
            </a:extLst>
          </p:cNvPr>
          <p:cNvSpPr/>
          <p:nvPr/>
        </p:nvSpPr>
        <p:spPr>
          <a:xfrm>
            <a:off x="3503924" y="6107515"/>
            <a:ext cx="2145251" cy="531223"/>
          </a:xfrm>
          <a:prstGeom prst="roundRect">
            <a:avLst>
              <a:gd name="adj" fmla="val 3279"/>
            </a:avLst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Legend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4" name="Google Shape;576;p66">
            <a:extLst>
              <a:ext uri="{FF2B5EF4-FFF2-40B4-BE49-F238E27FC236}">
                <a16:creationId xmlns:a16="http://schemas.microsoft.com/office/drawing/2014/main" id="{92DEAFE0-EF6E-8CEB-FC4B-422D7BA91339}"/>
              </a:ext>
            </a:extLst>
          </p:cNvPr>
          <p:cNvSpPr/>
          <p:nvPr/>
        </p:nvSpPr>
        <p:spPr>
          <a:xfrm>
            <a:off x="4596273" y="6326113"/>
            <a:ext cx="901697" cy="235348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Future Execution Focus</a:t>
            </a:r>
            <a:endParaRPr kumimoji="0" sz="6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5" name="Google Shape;577;p66">
            <a:extLst>
              <a:ext uri="{FF2B5EF4-FFF2-40B4-BE49-F238E27FC236}">
                <a16:creationId xmlns:a16="http://schemas.microsoft.com/office/drawing/2014/main" id="{9A93199E-4805-B4AA-E166-AA87967DF339}"/>
              </a:ext>
            </a:extLst>
          </p:cNvPr>
          <p:cNvSpPr/>
          <p:nvPr/>
        </p:nvSpPr>
        <p:spPr>
          <a:xfrm>
            <a:off x="3606746" y="6321602"/>
            <a:ext cx="901697" cy="235348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Deliverable Scope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8" name="Google Shape;440;p64">
            <a:extLst>
              <a:ext uri="{FF2B5EF4-FFF2-40B4-BE49-F238E27FC236}">
                <a16:creationId xmlns:a16="http://schemas.microsoft.com/office/drawing/2014/main" id="{E01659A9-7FD1-7B31-3E1A-2A96CCCE6AF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234913" y="6400192"/>
            <a:ext cx="9081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91919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Aspirations Program: Shared Services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91919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77;p66">
            <a:extLst>
              <a:ext uri="{FF2B5EF4-FFF2-40B4-BE49-F238E27FC236}">
                <a16:creationId xmlns:a16="http://schemas.microsoft.com/office/drawing/2014/main" id="{48A7DDE7-C9DC-2330-4CD0-913879643399}"/>
              </a:ext>
            </a:extLst>
          </p:cNvPr>
          <p:cNvSpPr/>
          <p:nvPr/>
        </p:nvSpPr>
        <p:spPr>
          <a:xfrm>
            <a:off x="6539415" y="3240650"/>
            <a:ext cx="4501632" cy="313607"/>
          </a:xfrm>
          <a:prstGeom prst="roundRect">
            <a:avLst>
              <a:gd name="adj" fmla="val 3995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60933" rIns="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01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4A06F-DDCF-7718-3A37-99FBC00B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8D9FB-4A35-22B8-9A3E-11B4CD9840A5}"/>
              </a:ext>
            </a:extLst>
          </p:cNvPr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E</a:t>
            </a:r>
            <a:r>
              <a:rPr sz="1100" b="1" spc="300">
                <a:solidFill>
                  <a:srgbClr val="694ED6"/>
                </a:solidFill>
                <a:latin typeface="Arial"/>
                <a:ea typeface="Calibri"/>
                <a:cs typeface="Arial"/>
                <a:sym typeface="Arial"/>
              </a:rPr>
              <a:t>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3A925-5DE7-8E91-C9D0-C0C0E00B9AED}"/>
              </a:ext>
            </a:extLst>
          </p:cNvPr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694ED6"/>
                </a:solidFill>
                <a:latin typeface="Arial"/>
                <a:cs typeface="Arial"/>
                <a:sym typeface="Arial"/>
              </a:rPr>
              <a:t>Where We Are. Where We're Going.</a:t>
            </a:r>
            <a:endParaRPr lang="en-US" sz="2000" b="1">
              <a:solidFill>
                <a:srgbClr val="694ED6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8CBF-0906-25E2-7953-808C6F133814}"/>
              </a:ext>
            </a:extLst>
          </p:cNvPr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  <a:sym typeface="Arial"/>
              </a:rPr>
              <a:t>Pattern 006 evolves the Grafana Cloud framework established by Pattern 005.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2D256B-321F-857E-2ACB-0F5F92DEC878}"/>
              </a:ext>
            </a:extLst>
          </p:cNvPr>
          <p:cNvSpPr/>
          <p:nvPr/>
        </p:nvSpPr>
        <p:spPr>
          <a:xfrm>
            <a:off x="457200" y="1691640"/>
            <a:ext cx="3657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6FEE4-B64E-FBFE-391E-4B25D86063AC}"/>
              </a:ext>
            </a:extLst>
          </p:cNvPr>
          <p:cNvSpPr/>
          <p:nvPr/>
        </p:nvSpPr>
        <p:spPr>
          <a:xfrm>
            <a:off x="457200" y="1691640"/>
            <a:ext cx="3657600" cy="73152"/>
          </a:xfrm>
          <a:prstGeom prst="rect">
            <a:avLst/>
          </a:prstGeom>
          <a:solidFill>
            <a:srgbClr val="6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1F3E9-6952-43BA-5327-AF8EBA806D2D}"/>
              </a:ext>
            </a:extLst>
          </p:cNvPr>
          <p:cNvSpPr txBox="1"/>
          <p:nvPr/>
        </p:nvSpPr>
        <p:spPr>
          <a:xfrm>
            <a:off x="731520" y="1965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6B7A8B"/>
                </a:solidFill>
                <a:latin typeface="Calibri"/>
              </a:rPr>
              <a:t>WHERE WE STARTED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286CE-AA66-DFDC-3C44-CB760EBD864C}"/>
              </a:ext>
            </a:extLst>
          </p:cNvPr>
          <p:cNvSpPr txBox="1"/>
          <p:nvPr/>
        </p:nvSpPr>
        <p:spPr>
          <a:xfrm>
            <a:off x="731520" y="2286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F2A47"/>
                </a:solidFill>
                <a:latin typeface="Calibri"/>
              </a:rPr>
              <a:t>Pattern 005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71713-FEBB-73A1-42EB-5D488ED8A965}"/>
              </a:ext>
            </a:extLst>
          </p:cNvPr>
          <p:cNvSpPr txBox="1"/>
          <p:nvPr/>
        </p:nvSpPr>
        <p:spPr>
          <a:xfrm>
            <a:off x="731520" y="30175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2A47"/>
                </a:solidFill>
                <a:latin typeface="Calibri"/>
              </a:rPr>
              <a:t>Single Finastra org (4 → 1 consolidation). Per-product stack model. GitOps + Terraform foundation.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1C0673-5348-45EB-177E-CCB180A0C4F3}"/>
              </a:ext>
            </a:extLst>
          </p:cNvPr>
          <p:cNvSpPr/>
          <p:nvPr/>
        </p:nvSpPr>
        <p:spPr>
          <a:xfrm>
            <a:off x="4343400" y="1691640"/>
            <a:ext cx="3657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29BD8-99C0-6F15-4467-BA3CD9A28590}"/>
              </a:ext>
            </a:extLst>
          </p:cNvPr>
          <p:cNvSpPr/>
          <p:nvPr/>
        </p:nvSpPr>
        <p:spPr>
          <a:xfrm>
            <a:off x="4343400" y="1691640"/>
            <a:ext cx="36576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394F4C-F2E7-D93B-1ED5-23D282537A64}"/>
              </a:ext>
            </a:extLst>
          </p:cNvPr>
          <p:cNvSpPr txBox="1"/>
          <p:nvPr/>
        </p:nvSpPr>
        <p:spPr>
          <a:xfrm>
            <a:off x="4617720" y="1965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C0392B"/>
                </a:solidFill>
                <a:latin typeface="Calibri"/>
              </a:rPr>
              <a:t>WHERE WE STRUGGLE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5BCE0-FD05-474A-24F4-0186D90E3E86}"/>
              </a:ext>
            </a:extLst>
          </p:cNvPr>
          <p:cNvSpPr txBox="1"/>
          <p:nvPr/>
        </p:nvSpPr>
        <p:spPr>
          <a:xfrm>
            <a:off x="4617720" y="2286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F2A47"/>
                </a:solidFill>
                <a:latin typeface="Calibri"/>
              </a:rPr>
              <a:t>100+ Stacks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923F1-F447-9E08-68A4-5A653038C3D6}"/>
              </a:ext>
            </a:extLst>
          </p:cNvPr>
          <p:cNvSpPr txBox="1"/>
          <p:nvPr/>
        </p:nvSpPr>
        <p:spPr>
          <a:xfrm>
            <a:off x="4617720" y="30175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2A47"/>
                </a:solidFill>
                <a:latin typeface="Calibri"/>
              </a:rPr>
              <a:t>Operational sprawl, asset duplication, identity sprawl, no cross-tier views, fragmented multi-region visibility.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C644F3F-B515-C92D-5DAC-D9D9DCE23ECB}"/>
              </a:ext>
            </a:extLst>
          </p:cNvPr>
          <p:cNvSpPr/>
          <p:nvPr/>
        </p:nvSpPr>
        <p:spPr>
          <a:xfrm>
            <a:off x="8229600" y="1691640"/>
            <a:ext cx="36576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D7C8B-7D0A-4633-BB9A-BD76630B38B1}"/>
              </a:ext>
            </a:extLst>
          </p:cNvPr>
          <p:cNvSpPr/>
          <p:nvPr/>
        </p:nvSpPr>
        <p:spPr>
          <a:xfrm>
            <a:off x="8229600" y="1691640"/>
            <a:ext cx="365760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5B882-B57D-B984-EC47-A81710A3A846}"/>
              </a:ext>
            </a:extLst>
          </p:cNvPr>
          <p:cNvSpPr txBox="1"/>
          <p:nvPr/>
        </p:nvSpPr>
        <p:spPr>
          <a:xfrm>
            <a:off x="8503920" y="1965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16A34A"/>
                </a:solidFill>
                <a:latin typeface="Calibri"/>
              </a:rPr>
              <a:t>WHERE WE'RE GOING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D63CA1-2560-D58C-B173-D7B9430B13EC}"/>
              </a:ext>
            </a:extLst>
          </p:cNvPr>
          <p:cNvSpPr txBox="1"/>
          <p:nvPr/>
        </p:nvSpPr>
        <p:spPr>
          <a:xfrm>
            <a:off x="8503920" y="2286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F2A47"/>
                </a:solidFill>
                <a:latin typeface="Calibri"/>
              </a:rPr>
              <a:t>Pattern 006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ECE25-5B90-3F6B-DA16-4366C68EEBF1}"/>
              </a:ext>
            </a:extLst>
          </p:cNvPr>
          <p:cNvSpPr txBox="1"/>
          <p:nvPr/>
        </p:nvSpPr>
        <p:spPr>
          <a:xfrm>
            <a:off x="8503920" y="3017520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2A47"/>
                </a:solidFill>
                <a:latin typeface="Calibri"/>
              </a:rPr>
              <a:t>5–6 BU-aligned stacks. Same enterprise security via LBAC + RBAC. Native cross-tier + Single Pane of Glass.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237D0D-6BC9-31CE-B894-292BF5A0F380}"/>
              </a:ext>
            </a:extLst>
          </p:cNvPr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83ED37-2129-12A0-22D4-53F6860CC166}"/>
              </a:ext>
            </a:extLst>
          </p:cNvPr>
          <p:cNvSpPr txBox="1"/>
          <p:nvPr/>
        </p:nvSpPr>
        <p:spPr>
          <a:xfrm>
            <a:off x="457200" y="5614972"/>
            <a:ext cx="11247120" cy="200055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1">
                <a:solidFill>
                  <a:schemeClr val="bg1"/>
                </a:solidFill>
                <a:latin typeface="Arial"/>
                <a:cs typeface="Arial"/>
              </a:rPr>
              <a:t>The shift is structural, not regressive </a:t>
            </a:r>
            <a:r>
              <a:rPr lang="en-US" sz="1300" b="1" i="1">
                <a:solidFill>
                  <a:schemeClr val="bg1"/>
                </a:solidFill>
                <a:latin typeface="Arial"/>
                <a:cs typeface="Arial"/>
              </a:rPr>
              <a:t>- </a:t>
            </a:r>
            <a:r>
              <a:rPr sz="1300" b="1" i="1">
                <a:solidFill>
                  <a:schemeClr val="bg1"/>
                </a:solidFill>
                <a:latin typeface="Arial"/>
                <a:cs typeface="Arial"/>
              </a:rPr>
              <a:t>enterprise-grade security is fully preserved.</a:t>
            </a:r>
            <a:endParaRPr lang="en-US" sz="1300" b="1" i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12F508-3081-208D-A1A5-669AF340F2D0}"/>
              </a:ext>
            </a:extLst>
          </p:cNvPr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66995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THE PROBLEM</a:t>
            </a:r>
            <a:endParaRPr lang="en-US" sz="1100" b="1" i="0" spc="300">
              <a:solidFill>
                <a:srgbClr val="694ED6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Why Per-Product Stacks Don't Scale</a:t>
            </a:r>
            <a:endParaRPr lang="en-US" sz="2000" b="1" i="0">
              <a:solidFill>
                <a:srgbClr val="694ED6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Pattern 005 served us well. At scale, its implementation choice has produced architectural debt.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5439" y="1691640"/>
            <a:ext cx="265176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5439" y="17830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694ED6"/>
                </a:solidFill>
                <a:latin typeface="Calibri"/>
              </a:rP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599" y="2544261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0F2A47"/>
                </a:solidFill>
                <a:latin typeface="Arial"/>
                <a:cs typeface="Arial"/>
              </a:rPr>
              <a:t>Per-product stacks to maintain</a:t>
            </a:r>
            <a:endParaRPr lang="en-US" sz="1100" b="0" i="0">
              <a:solidFill>
                <a:srgbClr val="0F2A47"/>
              </a:solidFill>
              <a:latin typeface="Arial"/>
              <a:cs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61791" y="1691640"/>
            <a:ext cx="265176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1791" y="17830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694ED6"/>
                </a:solidFill>
                <a:latin typeface="Calibri"/>
              </a:rPr>
              <a:t>0</a:t>
            </a:r>
            <a:endParaRPr lang="en-US" sz="4000" b="1" i="0">
              <a:solidFill>
                <a:srgbClr val="694ED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8951" y="2544261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0F2A47"/>
                </a:solidFill>
                <a:latin typeface="Arial"/>
                <a:cs typeface="Arial"/>
              </a:rPr>
              <a:t>Cross-tier views 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1691640"/>
            <a:ext cx="265176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8143" y="17830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694ED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3" y="2544261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0F2A47"/>
                </a:solidFill>
                <a:latin typeface="Arial"/>
                <a:cs typeface="Arial"/>
              </a:rPr>
              <a:t>Stacks SRE accesses for Pay2Go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4495" y="1691640"/>
            <a:ext cx="265176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94495" y="178308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694ED6"/>
                </a:solidFill>
                <a:latin typeface="Calibri"/>
              </a:rPr>
              <a:t>N×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1655" y="2544261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0F2A47"/>
                </a:solidFill>
                <a:latin typeface="Arial"/>
                <a:cs typeface="Arial"/>
              </a:rPr>
              <a:t>Dashboard sync burden per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137A2"/>
                </a:solidFill>
                <a:latin typeface="Calibri"/>
              </a:rPr>
              <a:t>FIVE DIMENSIONS OF ARCHITECTURAL DEBT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85032"/>
            <a:ext cx="320040" cy="32004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52719"/>
            <a:ext cx="320040" cy="184666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  <a:endParaRPr lang="en-US" sz="12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374045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Arial"/>
                <a:cs typeface="Arial"/>
              </a:rPr>
              <a:t>Operational Overhead</a:t>
            </a:r>
            <a:endParaRPr lang="en-US" sz="1300" b="1" i="0">
              <a:solidFill>
                <a:srgbClr val="0F2A47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3748147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B7A8B"/>
                </a:solidFill>
                <a:latin typeface="Arial"/>
                <a:cs typeface="Arial"/>
              </a:rPr>
              <a:t>Patching, upgrading, auditing 100+ stateful stacks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2232"/>
            <a:ext cx="320040" cy="32004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09919"/>
            <a:ext cx="320040" cy="184666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9765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Arial"/>
                <a:cs typeface="Arial"/>
              </a:rPr>
              <a:t>Asset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05347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>
                <a:solidFill>
                  <a:srgbClr val="6B7A8B"/>
                </a:solidFill>
                <a:latin typeface="Arial"/>
                <a:cs typeface="Arial"/>
              </a:rPr>
              <a:t>Every dashboard improvement requires 100+ coordinated deployments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99432"/>
            <a:ext cx="320040" cy="32004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5994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5485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Arial"/>
                <a:cs typeface="Arial"/>
              </a:rPr>
              <a:t>Identity Sprawl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62547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>
                <a:solidFill>
                  <a:srgbClr val="6B7A8B"/>
                </a:solidFill>
                <a:latin typeface="Arial"/>
                <a:cs typeface="Arial"/>
              </a:rPr>
              <a:t>SREs maintain role assignments across dozens of isolated boundaries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56632"/>
            <a:ext cx="320040" cy="32004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1205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Arial"/>
                <a:cs typeface="Arial"/>
              </a:rPr>
              <a:t>Siloed 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119747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>
                <a:solidFill>
                  <a:srgbClr val="6B7A8B"/>
                </a:solidFill>
                <a:latin typeface="Arial"/>
                <a:cs typeface="Arial"/>
              </a:rPr>
              <a:t>Cross-tier (Dev→Stage→Prod) views structurally impossible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13832"/>
            <a:ext cx="320040" cy="32004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513832"/>
            <a:ext cx="320040" cy="320040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69252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Arial"/>
                <a:cs typeface="Arial"/>
              </a:rPr>
              <a:t>Fragmented Multi-Region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576947"/>
            <a:ext cx="7589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6B7A8B"/>
                </a:solidFill>
                <a:latin typeface="Arial"/>
                <a:cs typeface="Arial"/>
              </a:rPr>
              <a:t>P</a:t>
            </a:r>
            <a:r>
              <a:rPr sz="1200">
                <a:solidFill>
                  <a:srgbClr val="6B7A8B"/>
                </a:solidFill>
                <a:latin typeface="Arial"/>
                <a:cs typeface="Arial"/>
              </a:rPr>
              <a:t>ay2Go SREs context-switch across 4 stacks for a global 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117892"/>
            <a:ext cx="11247120" cy="200055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1">
                <a:solidFill>
                  <a:schemeClr val="bg1"/>
                </a:solidFill>
                <a:latin typeface="Arial"/>
                <a:cs typeface="Arial"/>
              </a:rPr>
              <a:t>Consolidating at the BU level mitigates blast radius while unlocking material operational gains.</a:t>
            </a:r>
            <a:endParaRPr lang="en-US" sz="1300" b="1" i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72800" y="6537960"/>
            <a:ext cx="7589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IN" sz="900" i="1">
                <a:solidFill>
                  <a:srgbClr val="6B7A8B"/>
                </a:solidFill>
                <a:latin typeface="Calibri"/>
              </a:rPr>
              <a:t>6</a:t>
            </a:r>
            <a:r>
              <a:rPr sz="900" b="0" i="1">
                <a:solidFill>
                  <a:srgbClr val="6B7A8B"/>
                </a:solidFill>
                <a:latin typeface="Calibri"/>
              </a:rPr>
              <a:t>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spc="300">
                <a:solidFill>
                  <a:srgbClr val="694ED6"/>
                </a:solidFill>
                <a:latin typeface="Arial"/>
                <a:cs typeface="Arial"/>
              </a:rPr>
              <a:t>THE ARCHITECTURAL INSIGHT</a:t>
            </a:r>
            <a:endParaRPr sz="1100" b="1" i="0" spc="300">
              <a:solidFill>
                <a:srgbClr val="694ED6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694ED6"/>
                </a:solidFill>
                <a:latin typeface="Arial"/>
                <a:cs typeface="Arial"/>
              </a:rPr>
              <a:t>Two Boundaries, One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What makes BU-level consolidation safe is a deliberate separation between two distinct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949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43072"/>
            <a:ext cx="53949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300">
                <a:solidFill>
                  <a:srgbClr val="FFFFFF"/>
                </a:solidFill>
                <a:latin typeface="Arial"/>
                <a:cs typeface="Arial"/>
              </a:rPr>
              <a:t>OPERATIONAL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39496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F2A47"/>
                </a:solidFill>
                <a:latin typeface="Arial"/>
                <a:cs typeface="Arial"/>
              </a:rPr>
              <a:t>The Stack (BU Level)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563EB"/>
                </a:solidFill>
                <a:latin typeface="Courier New"/>
              </a:rPr>
              <a:t>AZR-C03-LEND-0001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C137A2"/>
                </a:solidFill>
                <a:latin typeface="Arial"/>
                <a:cs typeface="Arial"/>
              </a:rPr>
              <a:t>WHERE</a:t>
            </a:r>
            <a:endParaRPr lang="en-US" sz="1000" b="1" i="0" spc="250">
              <a:solidFill>
                <a:srgbClr val="C137A2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4663440" cy="1031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SRE operations are anchored</a:t>
            </a:r>
            <a:endParaRPr lang="en-US" sz="1300">
              <a:solidFill>
                <a:srgbClr val="0F2A47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Dashboards are shared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BU-level governance lives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err="1">
                <a:solidFill>
                  <a:srgbClr val="0F2A47"/>
                </a:solidFill>
                <a:latin typeface="Arial"/>
                <a:cs typeface="Arial"/>
              </a:rPr>
              <a:t>Alertmanager</a:t>
            </a: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39496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843072"/>
            <a:ext cx="53949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spc="300">
                <a:solidFill>
                  <a:srgbClr val="FFFFFF"/>
                </a:solidFill>
                <a:latin typeface="Arial"/>
                <a:cs typeface="Arial"/>
              </a:rPr>
              <a:t>SECURITY BOUNDARY</a:t>
            </a:r>
            <a:endParaRPr lang="en-US" sz="1300" b="1" i="0" spc="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39496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F2A47"/>
                </a:solidFill>
                <a:latin typeface="Arial"/>
                <a:cs typeface="Arial"/>
              </a:rPr>
              <a:t>The Label &amp; Folder (Product Level)</a:t>
            </a:r>
            <a:endParaRPr lang="en-US" sz="2000" b="1" i="0">
              <a:solidFill>
                <a:srgbClr val="0F2A47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0" y="28803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6A34A"/>
                </a:solidFill>
                <a:latin typeface="Courier New"/>
              </a:rPr>
              <a:t>{product="laserpro"}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C137A2"/>
                </a:solidFill>
                <a:latin typeface="Arial"/>
                <a:cs typeface="Arial"/>
              </a:rPr>
              <a:t>WHERE</a:t>
            </a:r>
            <a:endParaRPr lang="en-US" sz="1000" b="1" i="0" spc="250">
              <a:solidFill>
                <a:srgbClr val="C137A2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4663440" cy="1031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Product teams are isolated</a:t>
            </a:r>
            <a:endParaRPr lang="en-US" sz="1300">
              <a:solidFill>
                <a:srgbClr val="0F2A47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RBAC scopes folder access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LBAC filters queries at runtime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>
                <a:solidFill>
                  <a:srgbClr val="0F2A47"/>
                </a:solidFill>
                <a:latin typeface="Arial"/>
                <a:cs typeface="Arial"/>
              </a:rPr>
              <a:t>Query engine enforces — not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Same enterprise-grade security as Pattern 005. The change is structural, not regressive.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Personas, Ingestion, Isolation,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Four mechanisms that make BU-level consolidation safe, secure, and cost-attributable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6692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6692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①   PERSONAS  —  Who Uses Pattern 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0F2A47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28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urier New"/>
              </a:rPr>
              <a:t>LBAC: {product="laserpro"}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B"/>
                </a:solidFill>
                <a:latin typeface="Calibri"/>
              </a:rPr>
              <a:t>Sees only their product's data — folder-scoped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0F2A47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700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DevOps / SRE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urier New"/>
              </a:rPr>
              <a:t>LBAC: {product=~"a|b"}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7004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B"/>
                </a:solidFill>
                <a:latin typeface="Calibri"/>
              </a:rPr>
              <a:t>Cross-product within BU — incident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36976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0F2A47"/>
                </a:solidFill>
                <a:latin typeface="Calibri"/>
              </a:rPr>
              <a:t>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36976"/>
            <a:ext cx="2286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>
                <a:solidFill>
                  <a:srgbClr val="0F2A47"/>
                </a:solidFill>
                <a:latin typeface="Calibri"/>
              </a:rPr>
              <a:t>BU Owner</a:t>
            </a:r>
            <a:endParaRPr sz="1100" b="1" i="0">
              <a:solidFill>
                <a:srgbClr val="0F2A4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4930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urier New"/>
              </a:rPr>
              <a:t>Filtered: billing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23697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B7A8B"/>
                </a:solidFill>
                <a:latin typeface="Calibri"/>
              </a:rPr>
              <a:t>Cost showback &amp; chargeback visibility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600200"/>
            <a:ext cx="56692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91072" y="1600200"/>
            <a:ext cx="5669280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16002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②   GRAFANA ALLOY  —  Label Enforcement at Edge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2148840"/>
            <a:ext cx="512064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1488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1">
                <a:solidFill>
                  <a:srgbClr val="16A34A"/>
                </a:solidFill>
                <a:latin typeface="Calibri"/>
              </a:rPr>
              <a:t>"No labels = no entry"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60604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96F1A"/>
                </a:solidFill>
                <a:latin typeface="Calibri"/>
              </a:rPr>
              <a:t>INJECTS MANDATORY LABELS: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2" y="2880360"/>
            <a:ext cx="1097280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ourier New"/>
              </a:rPr>
              <a:t>bu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2880360"/>
            <a:ext cx="1097280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ourier New"/>
              </a:rPr>
              <a:t>product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42832" y="2880360"/>
            <a:ext cx="1097280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42832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ourier New"/>
              </a:rPr>
              <a:t>env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31552" y="2880360"/>
            <a:ext cx="1097280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31552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ourier New"/>
              </a:rPr>
              <a:t>region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329184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2A47"/>
                </a:solidFill>
                <a:latin typeface="Calibri"/>
              </a:rPr>
              <a:t>Telemetry without these labels is rejected at the collector — guaranteeing 100% attribution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96512"/>
            <a:ext cx="56692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096512"/>
            <a:ext cx="5669280" cy="411480"/>
          </a:xfrm>
          <a:prstGeom prst="rect">
            <a:avLst/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0965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③   LBAC + RBAC  —  Replaces Physical Stack Boundaries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45152"/>
            <a:ext cx="2514600" cy="1463040"/>
          </a:xfrm>
          <a:prstGeom prst="rect">
            <a:avLst/>
          </a:prstGeom>
          <a:solidFill>
            <a:srgbClr val="F3E8FF"/>
          </a:solidFill>
          <a:ln w="12700">
            <a:solidFill>
              <a:srgbClr val="7B2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73659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7B2CBF"/>
                </a:solidFill>
                <a:latin typeface="Calibri"/>
              </a:rPr>
              <a:t>RBAC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10912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F2A47"/>
                </a:solidFill>
                <a:latin typeface="Calibri"/>
              </a:rPr>
              <a:t>Folder-level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30952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F2A47"/>
                </a:solidFill>
                <a:latin typeface="Calibri"/>
              </a:rPr>
              <a:t>Controls which folders a user can SEE in the UI. LoanIQ folder hidden from LaserPro team.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4645152"/>
            <a:ext cx="2514600" cy="1463040"/>
          </a:xfrm>
          <a:prstGeom prst="rect">
            <a:avLst/>
          </a:prstGeom>
          <a:solidFill>
            <a:srgbClr val="F3E8FF"/>
          </a:solidFill>
          <a:ln w="12700">
            <a:solidFill>
              <a:srgbClr val="7B2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473659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7B2CBF"/>
                </a:solidFill>
                <a:latin typeface="Calibri"/>
              </a:rPr>
              <a:t>LBAC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010912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0F2A47"/>
                </a:solidFill>
                <a:latin typeface="Calibri"/>
              </a:rPr>
              <a:t>Query-engine filter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330952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F2A47"/>
                </a:solidFill>
                <a:latin typeface="Calibri"/>
              </a:rPr>
              <a:t>Filters DATA at PromQL/LogQL execution. LaserPro queries cannot return LoanIQ data — period.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1081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1">
                <a:solidFill>
                  <a:srgbClr val="7B2CBF"/>
                </a:solidFill>
                <a:latin typeface="Calibri"/>
              </a:rPr>
              <a:t>Physical separation traded for query-engine enforcement — same security guarantee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4096512"/>
            <a:ext cx="566928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91072" y="4096512"/>
            <a:ext cx="566928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3952" y="40965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④   PER-PRODUCT BILLING  —  Without Per-Stack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5392" y="4645152"/>
            <a:ext cx="5120640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65392" y="464515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ourier New"/>
              </a:rPr>
              <a:t>grafanacloud_usage{product="laserpro"}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528523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96F1A"/>
                </a:solidFill>
                <a:latin typeface="Calibri"/>
              </a:rPr>
              <a:t>FILTERS BY PRODUCT LABEL: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65392" y="5559552"/>
            <a:ext cx="1661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5605272"/>
            <a:ext cx="1661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alibri"/>
              </a:rPr>
              <a:t>Active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5788152"/>
            <a:ext cx="1661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6B7A8B"/>
                </a:solidFill>
                <a:latin typeface="Calibri"/>
              </a:rPr>
              <a:t>count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99704" y="5559552"/>
            <a:ext cx="1661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99704" y="5605272"/>
            <a:ext cx="1661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alibri"/>
              </a:rPr>
              <a:t>Log volume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9704" y="5788152"/>
            <a:ext cx="1661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6B7A8B"/>
                </a:solidFill>
                <a:latin typeface="Calibri"/>
              </a:rPr>
              <a:t>GB/month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34016" y="5559552"/>
            <a:ext cx="1661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34016" y="5605272"/>
            <a:ext cx="1661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F2A47"/>
                </a:solidFill>
                <a:latin typeface="Calibri"/>
              </a:rPr>
              <a:t>Trace spans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34016" y="5788152"/>
            <a:ext cx="1661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6B7A8B"/>
                </a:solidFill>
                <a:latin typeface="Calibri"/>
              </a:rPr>
              <a:t>count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61081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1">
                <a:solidFill>
                  <a:srgbClr val="D97706"/>
                </a:solidFill>
                <a:latin typeface="Calibri"/>
              </a:rPr>
              <a:t>10 products in 1 stack — each product's cost still accurately attributable to its P&amp;L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End-to-end view: Users &amp; Identity → GitOps → Telemetry → BU-Aligned Grafana Cloud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Single Finastra 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Inherited from Pattern 005's 4→1 consolidation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GitOps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Zero click-ops, full Terraform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Label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Alloy injects bu, product, env, region at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5-6 BU Stacks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Replace 100+ per-product stacks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Backstage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Discovery via developer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9 / 17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483437-4D2E-8F1C-181C-D416ACD3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43" b="296"/>
          <a:stretch>
            <a:fillRect/>
          </a:stretch>
        </p:blipFill>
        <p:spPr>
          <a:xfrm>
            <a:off x="363939" y="1498043"/>
            <a:ext cx="8370628" cy="4485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BU-Aligned Org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Five Business Units. Multiple product folders. Logical isolation replaces physical separation.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>
                <a:solidFill>
                  <a:srgbClr val="0F2A47"/>
                </a:solidFill>
                <a:latin typeface="Calibri"/>
              </a:rPr>
              <a:t>2 BU</a:t>
            </a:r>
            <a:r>
              <a:rPr sz="1100" b="1" i="0">
                <a:solidFill>
                  <a:srgbClr val="0F2A47"/>
                </a:solidFill>
                <a:latin typeface="Calibri"/>
              </a:rPr>
              <a:t> Stacks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Lending,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Product Folders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Logical isolation within each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Multi-Region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Regional stacks where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Editor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Teams retain self-service per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Pattern 005 Carve-Outs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PCI-DSS workloads stay isolated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A8B"/>
                </a:solidFill>
                <a:latin typeface="Calibri"/>
              </a:rPr>
              <a:t>Pattern 006  •  SPS-2000  •  Finastra Observability 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10 / 17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B86984-91A9-1E99-36B5-5EF83AFD9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19" t="6169" r="119" b="-304"/>
          <a:stretch>
            <a:fillRect/>
          </a:stretch>
        </p:blipFill>
        <p:spPr>
          <a:xfrm>
            <a:off x="310347" y="1716786"/>
            <a:ext cx="8367288" cy="44024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Naming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Precisely one structural change from Pattern 005: Product ID tier → Business Unit 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744161"/>
            <a:ext cx="30175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Provider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AZR, AWS, GCP — Naming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Region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C03, E01, WE1, NE1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BU Replaces Product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LEND, PAYM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Index Unchanged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Supports horizontal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env is a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Never in stack name (005 or 006)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11 / 17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E4D06A-2C74-102C-0B9F-58426A7B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" t="7413" r="180" b="513"/>
          <a:stretch>
            <a:fillRect/>
          </a:stretch>
        </p:blipFill>
        <p:spPr>
          <a:xfrm>
            <a:off x="365736" y="1603728"/>
            <a:ext cx="8081725" cy="47523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Identity-to-Stack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Worked example</a:t>
            </a:r>
            <a:r>
              <a:rPr lang="en-US" sz="1300">
                <a:solidFill>
                  <a:srgbClr val="000000"/>
                </a:solidFill>
                <a:latin typeface="Arial"/>
                <a:cs typeface="Arial"/>
              </a:rPr>
              <a:t> -</a:t>
            </a:r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 Jane, a </a:t>
            </a:r>
            <a:r>
              <a:rPr sz="1300" err="1">
                <a:solidFill>
                  <a:srgbClr val="000000"/>
                </a:solidFill>
                <a:latin typeface="Arial"/>
                <a:cs typeface="Arial"/>
              </a:rPr>
              <a:t>LaserPro</a:t>
            </a:r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 engineer in the Lending BU.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Entra ID =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Inherited from Pattern 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Auto-Provisioning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RBAC + LBAC from group memberships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Jane Sees Only LaserPro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LoanIQ folder hidden by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LBAC at Query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Cannot see LoanIQ data — structurally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SRE Variant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Multi-product access via single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12 / 17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36AC401-161F-B97F-0968-0AE78B6CB8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950" y="1602347"/>
            <a:ext cx="8372475" cy="44915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MULTI-REGION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Region as a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Single Pane of Glass </a:t>
            </a:r>
            <a:r>
              <a:rPr lang="en-US" sz="1300">
                <a:solidFill>
                  <a:srgbClr val="000000"/>
                </a:solidFill>
                <a:latin typeface="Arial"/>
                <a:cs typeface="Arial"/>
              </a:rPr>
              <a:t>- </a:t>
            </a:r>
            <a:r>
              <a:rPr sz="1300" err="1">
                <a:solidFill>
                  <a:srgbClr val="000000"/>
                </a:solidFill>
                <a:latin typeface="Arial"/>
                <a:cs typeface="Arial"/>
              </a:rPr>
              <a:t>LoanIQ</a:t>
            </a:r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 (single-region) vs Pay2Go (multi-region) side by 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Region in 2 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Stack name (hosting) + label (filter)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LoanIQ: 1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US-only, region as dropdown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Pay2Go: 2 Stacks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US + EU due to GDPR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Mixed Datasources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Unified dashboard across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Data Residency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Raw user data stays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13 / 17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67CEFE6-FCA1-DE6A-44EC-3921C5458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589318"/>
            <a:ext cx="8161020" cy="46394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ALERT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Hardened </a:t>
            </a:r>
            <a:r>
              <a:rPr sz="2000" b="1" i="0" err="1">
                <a:solidFill>
                  <a:srgbClr val="694ED6"/>
                </a:solidFill>
                <a:latin typeface="Arial"/>
                <a:cs typeface="Arial"/>
              </a:rPr>
              <a:t>Alertmanager</a:t>
            </a:r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Four guardrails make cross-tenant alert suppression structurally impossible in a shared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Family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alert_family label gates inhibition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Identity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equal: [namespace, cluster,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Jira vs OnCall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Routing separation enforced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GitOps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Unlabeled rules rejected at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Not by convention — structurally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14 / 17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4174209-9E19-E437-8E08-319146319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" y="1523306"/>
            <a:ext cx="8221980" cy="48324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err="1">
                <a:solidFill>
                  <a:srgbClr val="694ED6"/>
                </a:solidFill>
                <a:latin typeface="Arial"/>
                <a:cs typeface="Arial"/>
              </a:rPr>
              <a:t>GitOps</a:t>
            </a:r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 Management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Zero click-ops</a:t>
            </a:r>
            <a:r>
              <a:rPr lang="en-US" sz="1300">
                <a:solidFill>
                  <a:srgbClr val="000000"/>
                </a:solidFill>
                <a:latin typeface="Arial"/>
                <a:cs typeface="Arial"/>
              </a:rPr>
              <a:t> -</a:t>
            </a:r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 mechanically identical to Pattern 005. Contributor → GitHub → Terraform → Grafana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Same as Pattern 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Mechanically identical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Every change = PR + CODEOWNER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Standardized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Same workflow for all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Self-Service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Teams operate within the 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Idempotent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Re-runs produce zero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15 / 17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40547F5-2A0C-F516-3D25-EB2168F17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950" y="1596813"/>
            <a:ext cx="8237220" cy="49978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94ED6"/>
                </a:solidFill>
                <a:latin typeface="Arial"/>
                <a:cs typeface="Arial"/>
              </a:rPr>
              <a:t>MIGRATION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694ED6"/>
                </a:solidFill>
                <a:latin typeface="Arial"/>
                <a:cs typeface="Arial"/>
              </a:rPr>
              <a:t>Five-Phase Adoption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Arial"/>
                <a:cs typeface="Arial"/>
              </a:rPr>
              <a:t>Zero-disruption rollout. Old and new stacks coexist. Rollback possible through Phase 3.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229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32520" y="1600200"/>
            <a:ext cx="3017520" cy="47548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40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Phase 0: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49631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Week 0 — alignment &amp;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0449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Phase 1: Provision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30098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Weeks 1-2 — new stacks 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84962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Phase 2: Dual-Write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10565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Weeks 3-6 — Alloy writes to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6542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Phase 3: Migrate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9103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Weeks 7-10 — last rollback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54589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Calibri"/>
              </a:rPr>
              <a:t>Phase 4: Deprecate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150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A8B"/>
                </a:solidFill>
                <a:latin typeface="Calibri"/>
              </a:rPr>
              <a:t>Week 11+ — 60-day grace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6B7A8B"/>
                </a:solidFill>
                <a:latin typeface="Calibri"/>
              </a:rPr>
              <a:t>16 / 17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3C566F1-A000-FDF0-FF1D-9CEA945D2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940" y="1599997"/>
            <a:ext cx="8229600" cy="46168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13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E96F1A"/>
                </a:solidFill>
                <a:latin typeface="Calibri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Calibri"/>
              </a:rPr>
              <a:t>Pattern 006 Sets Finastra Up to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166" y="1958825"/>
            <a:ext cx="3657600" cy="2011680"/>
          </a:xfrm>
          <a:prstGeom prst="rect">
            <a:avLst/>
          </a:prstGeom>
          <a:solidFill>
            <a:schemeClr val="bg1"/>
          </a:solidFill>
          <a:ln w="19050">
            <a:solidFill>
              <a:srgbClr val="E9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287" y="2343537"/>
            <a:ext cx="36576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600" b="1" i="0">
                <a:solidFill>
                  <a:srgbClr val="694ED6"/>
                </a:solidFill>
                <a:latin typeface="Calibri"/>
              </a:rP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87" y="3222144"/>
            <a:ext cx="3657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fewer stacks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87" y="3618681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Calibri"/>
              </a:rPr>
              <a:t>From 100+ to 5–6 BU stacks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879" y="1958825"/>
            <a:ext cx="3657600" cy="2011680"/>
          </a:xfrm>
          <a:prstGeom prst="rect">
            <a:avLst/>
          </a:prstGeom>
          <a:solidFill>
            <a:schemeClr val="bg1"/>
          </a:solidFill>
          <a:ln w="19050">
            <a:solidFill>
              <a:srgbClr val="E9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7047" y="2343537"/>
            <a:ext cx="36576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600" b="1" i="0">
                <a:solidFill>
                  <a:srgbClr val="694ED6"/>
                </a:solidFill>
                <a:latin typeface="Calibri"/>
              </a:rPr>
              <a:t>1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3222144"/>
            <a:ext cx="3657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for SRE multi-product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047" y="3618681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Calibri"/>
              </a:rPr>
              <a:t>vs. dozens of mappings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212" y="1958825"/>
            <a:ext cx="3657600" cy="2011680"/>
          </a:xfrm>
          <a:prstGeom prst="rect">
            <a:avLst/>
          </a:prstGeom>
          <a:solidFill>
            <a:schemeClr val="bg1"/>
          </a:solidFill>
          <a:ln w="19050">
            <a:solidFill>
              <a:srgbClr val="E9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1807" y="2343537"/>
            <a:ext cx="3657600" cy="7078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600" b="1" i="0">
                <a:solidFill>
                  <a:srgbClr val="694ED6"/>
                </a:solidFill>
                <a:latin typeface="Calibri"/>
              </a:rPr>
              <a:t>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807" y="3222144"/>
            <a:ext cx="36576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cross-tier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3618681"/>
            <a:ext cx="3657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Calibri"/>
              </a:rPr>
              <a:t>Dev/Stage/Prod overlay 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96F1A"/>
                </a:solidFill>
                <a:latin typeface="Calibri"/>
              </a:rPr>
              <a:t>STAKEHOLDER FEEDBACK — RESOLVED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2788920" cy="594360"/>
          </a:xfrm>
          <a:prstGeom prst="rect">
            <a:avLst/>
          </a:prstGeom>
          <a:solidFill>
            <a:schemeClr val="bg1"/>
          </a:solidFill>
          <a:ln w="1270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365760" cy="320040"/>
          </a:xfrm>
          <a:prstGeom prst="rect">
            <a:avLst/>
          </a:prstGeom>
          <a:solidFill>
            <a:srgbClr val="E9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30261"/>
            <a:ext cx="21945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Which stack will I access?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617720"/>
            <a:ext cx="228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4617720"/>
            <a:ext cx="2788920" cy="594360"/>
          </a:xfrm>
          <a:prstGeom prst="rect">
            <a:avLst/>
          </a:prstGeom>
          <a:solidFill>
            <a:schemeClr val="bg1"/>
          </a:solidFill>
          <a:ln w="1270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9000" y="4754880"/>
            <a:ext cx="365760" cy="320040"/>
          </a:xfrm>
          <a:prstGeom prst="rect">
            <a:avLst/>
          </a:prstGeom>
          <a:solidFill>
            <a:srgbClr val="E9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47548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830261"/>
            <a:ext cx="21945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Multi-region Single Pane of Glass?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617720"/>
            <a:ext cx="228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17720"/>
            <a:ext cx="2788920" cy="594360"/>
          </a:xfrm>
          <a:prstGeom prst="rect">
            <a:avLst/>
          </a:prstGeom>
          <a:solidFill>
            <a:schemeClr val="bg1"/>
          </a:solidFill>
          <a:ln w="1270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4754880"/>
            <a:ext cx="365760" cy="320040"/>
          </a:xfrm>
          <a:prstGeom prst="rect">
            <a:avLst/>
          </a:prstGeom>
          <a:solidFill>
            <a:srgbClr val="E9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7548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830261"/>
            <a:ext cx="21945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Region — label or boundary?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617720"/>
            <a:ext cx="228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4617720"/>
            <a:ext cx="2788920" cy="594360"/>
          </a:xfrm>
          <a:prstGeom prst="rect">
            <a:avLst/>
          </a:prstGeom>
          <a:solidFill>
            <a:schemeClr val="bg1"/>
          </a:solidFill>
          <a:ln w="12700">
            <a:solidFill>
              <a:srgbClr val="E8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4754880"/>
            <a:ext cx="365760" cy="320040"/>
          </a:xfrm>
          <a:prstGeom prst="rect">
            <a:avLst/>
          </a:prstGeom>
          <a:solidFill>
            <a:srgbClr val="E9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9720" y="47548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830261"/>
            <a:ext cx="21945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Alertmanager in shared stack?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4617720"/>
            <a:ext cx="2286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96F1A"/>
                </a:solidFill>
                <a:latin typeface="Calibri"/>
              </a:rPr>
              <a:t>NEXT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1. Review of design with Vladimir Babichev      2. Alignment call with Enterprise Monitoring      3. Iterate, finalize by June 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63640"/>
            <a:ext cx="1371600" cy="36576"/>
          </a:xfrm>
          <a:prstGeom prst="rect">
            <a:avLst/>
          </a:prstGeom>
          <a:solidFill>
            <a:srgbClr val="E9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35508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1">
                <a:solidFill>
                  <a:srgbClr val="000000"/>
                </a:solidFill>
                <a:latin typeface="Calibri"/>
              </a:rPr>
              <a:t>Questions, please.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nastra2025_v2">
  <a:themeElements>
    <a:clrScheme name="Finastra">
      <a:dk1>
        <a:srgbClr val="414141"/>
      </a:dk1>
      <a:lt1>
        <a:srgbClr val="FFFFFF"/>
      </a:lt1>
      <a:dk2>
        <a:srgbClr val="414141"/>
      </a:dk2>
      <a:lt2>
        <a:srgbClr val="FFFFFF"/>
      </a:lt2>
      <a:accent1>
        <a:srgbClr val="C137A2"/>
      </a:accent1>
      <a:accent2>
        <a:srgbClr val="694ED6"/>
      </a:accent2>
      <a:accent3>
        <a:srgbClr val="44B978"/>
      </a:accent3>
      <a:accent4>
        <a:srgbClr val="009CBD"/>
      </a:accent4>
      <a:accent5>
        <a:srgbClr val="FED100"/>
      </a:accent5>
      <a:accent6>
        <a:srgbClr val="F04E98"/>
      </a:accent6>
      <a:hlink>
        <a:srgbClr val="C137A2"/>
      </a:hlink>
      <a:folHlink>
        <a:srgbClr val="694E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Office Theme</vt:lpstr>
      <vt:lpstr>Simple Light</vt:lpstr>
      <vt:lpstr>Finastra2025_v2</vt:lpstr>
      <vt:lpstr>PowerPoint Presentation</vt:lpstr>
      <vt:lpstr>Deliverable Overview</vt:lpstr>
      <vt:lpstr>Observability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Malik, Usman</dc:creator>
  <cp:keywords/>
  <dc:description>generated using python-pptx</dc:description>
  <cp:revision>63</cp:revision>
  <dcterms:created xsi:type="dcterms:W3CDTF">2013-01-27T09:14:16Z</dcterms:created>
  <dcterms:modified xsi:type="dcterms:W3CDTF">2026-05-13T23:04:38Z</dcterms:modified>
  <cp:category/>
</cp:coreProperties>
</file>